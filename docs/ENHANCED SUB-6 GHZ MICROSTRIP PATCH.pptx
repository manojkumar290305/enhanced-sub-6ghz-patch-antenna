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0" r:id="rId4"/>
    <p:sldId id="261" r:id="rId5"/>
    <p:sldId id="262" r:id="rId6"/>
    <p:sldId id="258" r:id="rId7"/>
    <p:sldId id="263" r:id="rId8"/>
    <p:sldId id="264" r:id="rId9"/>
    <p:sldId id="266" r:id="rId10"/>
    <p:sldId id="268" r:id="rId11"/>
    <p:sldId id="259"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E9B5E-9F04-4109-870C-744863B749A0}" type="datetimeFigureOut">
              <a:rPr lang="en-IN" smtClean="0"/>
              <a:t>18-11-2025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120FF6-C21F-4ED1-AA0D-D9CA8C75769C}" type="slidenum">
              <a:rPr lang="en-IN" smtClean="0"/>
              <a:t>‹#›</a:t>
            </a:fld>
            <a:endParaRPr lang="en-IN" dirty="0"/>
          </a:p>
        </p:txBody>
      </p:sp>
    </p:spTree>
    <p:extLst>
      <p:ext uri="{BB962C8B-B14F-4D97-AF65-F5344CB8AC3E}">
        <p14:creationId xmlns:p14="http://schemas.microsoft.com/office/powerpoint/2010/main" val="703429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C17AE6B-5252-46C6-8392-B0A473133BFA}" type="datetime1">
              <a:rPr lang="en-IN" smtClean="0"/>
              <a:t>18-11-2025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30405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948BF5-1932-4EE7-BA86-318A877F06F6}" type="datetime1">
              <a:rPr lang="en-IN" smtClean="0"/>
              <a:t>18-11-2025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699059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517E26-D372-432C-918A-9308997A4410}" type="datetime1">
              <a:rPr lang="en-IN" smtClean="0"/>
              <a:t>18-11-2025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3652283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843FAFF-CD62-4A62-BFB8-3538B2E728D9}" type="datetime1">
              <a:rPr lang="en-IN" smtClean="0"/>
              <a:t>18-11-2025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3490314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37D18BB-E260-42AA-9384-5633988C6BF9}" type="datetime1">
              <a:rPr lang="en-IN" smtClean="0"/>
              <a:t>18-11-2025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458043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F9070D2-CC53-4E9D-AD05-239841AFB4B9}" type="datetime1">
              <a:rPr lang="en-IN" smtClean="0"/>
              <a:t>18-11-2025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1855044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252626-FB91-41AD-A21C-3D4E747499C6}" type="datetime1">
              <a:rPr lang="en-IN" smtClean="0"/>
              <a:t>18-11-2025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1389625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759A74-0C4D-47F3-9F81-9D1DE92CA4D8}" type="datetime1">
              <a:rPr lang="en-IN" smtClean="0"/>
              <a:t>18-11-2025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202665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734EDE-55D3-4256-84F3-67DE77A4E56E}" type="datetime1">
              <a:rPr lang="en-IN" smtClean="0"/>
              <a:t>18-11-2025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370290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79DDE7-AD03-4435-8521-E14F8D38C853}" type="datetime1">
              <a:rPr lang="en-IN" smtClean="0"/>
              <a:t>18-11-2025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395868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D9F939E-F5E8-41D3-BD3A-110F82F18C25}" type="datetime1">
              <a:rPr lang="en-IN" smtClean="0"/>
              <a:t>18-11-2025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C9800B7-EB22-4356-9B89-568C59CC0F89}" type="slidenum">
              <a:rPr lang="en-IN" smtClean="0"/>
              <a:t>‹#›</a:t>
            </a:fld>
            <a:endParaRPr lang="en-IN" dirty="0"/>
          </a:p>
        </p:txBody>
      </p:sp>
    </p:spTree>
    <p:extLst>
      <p:ext uri="{BB962C8B-B14F-4D97-AF65-F5344CB8AC3E}">
        <p14:creationId xmlns:p14="http://schemas.microsoft.com/office/powerpoint/2010/main" val="524072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DEDDD-7E25-4F8F-8454-BAB6D01B3D2D}" type="datetime1">
              <a:rPr lang="en-IN" smtClean="0"/>
              <a:t>18-11-2025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9800B7-EB22-4356-9B89-568C59CC0F89}" type="slidenum">
              <a:rPr lang="en-IN" smtClean="0"/>
              <a:t>‹#›</a:t>
            </a:fld>
            <a:endParaRPr lang="en-IN" dirty="0"/>
          </a:p>
        </p:txBody>
      </p:sp>
    </p:spTree>
    <p:extLst>
      <p:ext uri="{BB962C8B-B14F-4D97-AF65-F5344CB8AC3E}">
        <p14:creationId xmlns:p14="http://schemas.microsoft.com/office/powerpoint/2010/main" val="2362324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1796782" cy="1515291"/>
          </a:xfrm>
          <a:prstGeom prst="rect">
            <a:avLst/>
          </a:prstGeom>
        </p:spPr>
      </p:pic>
      <p:sp>
        <p:nvSpPr>
          <p:cNvPr id="2" name="Title 1"/>
          <p:cNvSpPr>
            <a:spLocks noGrp="1"/>
          </p:cNvSpPr>
          <p:nvPr>
            <p:ph type="ctrTitle"/>
          </p:nvPr>
        </p:nvSpPr>
        <p:spPr>
          <a:xfrm>
            <a:off x="197608" y="1515291"/>
            <a:ext cx="11796783" cy="2387600"/>
          </a:xfrm>
        </p:spPr>
        <p:txBody>
          <a:bodyPr>
            <a:normAutofit/>
          </a:bodyPr>
          <a:lstStyle/>
          <a:p>
            <a:pPr>
              <a:lnSpc>
                <a:spcPct val="100000"/>
              </a:lnSpc>
            </a:pPr>
            <a:r>
              <a:rPr lang="en-US" sz="3700" b="1" dirty="0">
                <a:latin typeface="Times New Roman" panose="02020603050405020304" pitchFamily="18" charset="0"/>
                <a:cs typeface="Times New Roman" panose="02020603050405020304" pitchFamily="18" charset="0"/>
              </a:rPr>
              <a:t>Enhanced Sub-6 GHz Microstrip Patch Antenna with Wideband for Next-Gen Wireless Systems</a:t>
            </a:r>
            <a:br>
              <a:rPr lang="en-US" sz="44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U20EC706</a:t>
            </a:r>
            <a:br>
              <a:rPr lang="en-US" sz="33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PROJECT PHASE I</a:t>
            </a:r>
            <a:endParaRPr lang="en-IN" sz="33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C9800B7-EB22-4356-9B89-568C59CC0F89}" type="slidenum">
              <a:rPr lang="en-IN" smtClean="0"/>
              <a:t>1</a:t>
            </a:fld>
            <a:endParaRPr lang="en-IN" dirty="0"/>
          </a:p>
        </p:txBody>
      </p:sp>
      <p:sp>
        <p:nvSpPr>
          <p:cNvPr id="7" name="TextBox 6">
            <a:extLst>
              <a:ext uri="{FF2B5EF4-FFF2-40B4-BE49-F238E27FC236}">
                <a16:creationId xmlns:a16="http://schemas.microsoft.com/office/drawing/2014/main" id="{DE88F4E2-1BF5-258C-D98E-ECEF7EBB5F80}"/>
              </a:ext>
            </a:extLst>
          </p:cNvPr>
          <p:cNvSpPr txBox="1"/>
          <p:nvPr/>
        </p:nvSpPr>
        <p:spPr>
          <a:xfrm>
            <a:off x="197608" y="4209040"/>
            <a:ext cx="6305973" cy="2492990"/>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PRESENTED BY</a:t>
            </a:r>
          </a:p>
          <a:p>
            <a:br>
              <a:rPr lang="en-US" sz="2600" b="1"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MANOJKUMAR .S      (810422106062)</a:t>
            </a:r>
          </a:p>
          <a:p>
            <a:r>
              <a:rPr lang="en-US" sz="2600" dirty="0">
                <a:latin typeface="Times New Roman" panose="02020603050405020304" pitchFamily="18" charset="0"/>
                <a:cs typeface="Times New Roman" panose="02020603050405020304" pitchFamily="18" charset="0"/>
              </a:rPr>
              <a:t>RAJASURYA .J            (810422106090)</a:t>
            </a:r>
          </a:p>
          <a:p>
            <a:r>
              <a:rPr lang="en-US" sz="2600" dirty="0">
                <a:latin typeface="Times New Roman" panose="02020603050405020304" pitchFamily="18" charset="0"/>
                <a:cs typeface="Times New Roman" panose="02020603050405020304" pitchFamily="18" charset="0"/>
              </a:rPr>
              <a:t>SELVAKRISHNAN .K (810422106104)</a:t>
            </a:r>
          </a:p>
          <a:p>
            <a:r>
              <a:rPr lang="en-US" sz="2600" dirty="0">
                <a:latin typeface="Times New Roman" panose="02020603050405020304" pitchFamily="18" charset="0"/>
                <a:cs typeface="Times New Roman" panose="02020603050405020304" pitchFamily="18" charset="0"/>
              </a:rPr>
              <a:t>SIVAPRADHOSH .U   (810422106109)</a:t>
            </a:r>
            <a:endParaRPr lang="en-IN" sz="2600" dirty="0"/>
          </a:p>
        </p:txBody>
      </p:sp>
      <p:sp>
        <p:nvSpPr>
          <p:cNvPr id="10" name="TextBox 9">
            <a:extLst>
              <a:ext uri="{FF2B5EF4-FFF2-40B4-BE49-F238E27FC236}">
                <a16:creationId xmlns:a16="http://schemas.microsoft.com/office/drawing/2014/main" id="{8AD97A3C-948F-2BFE-2DF4-3180363519B9}"/>
              </a:ext>
            </a:extLst>
          </p:cNvPr>
          <p:cNvSpPr txBox="1"/>
          <p:nvPr/>
        </p:nvSpPr>
        <p:spPr>
          <a:xfrm>
            <a:off x="7497175" y="4209040"/>
            <a:ext cx="5571931" cy="363176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GUIDED BY </a:t>
            </a:r>
          </a:p>
          <a:p>
            <a:endParaRPr lang="en-US" sz="2600" b="1"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Mr. N.KHADAR BASHA, M.E.,</a:t>
            </a:r>
          </a:p>
          <a:p>
            <a:r>
              <a:rPr lang="en-US" sz="2600" dirty="0">
                <a:latin typeface="Times New Roman" panose="02020603050405020304" pitchFamily="18" charset="0"/>
                <a:cs typeface="Times New Roman" panose="02020603050405020304" pitchFamily="18" charset="0"/>
              </a:rPr>
              <a:t>Assistant Professor, </a:t>
            </a:r>
          </a:p>
          <a:p>
            <a:r>
              <a:rPr lang="en-US" sz="2600" dirty="0">
                <a:latin typeface="Times New Roman" panose="02020603050405020304" pitchFamily="18" charset="0"/>
                <a:cs typeface="Times New Roman" panose="02020603050405020304" pitchFamily="18" charset="0"/>
              </a:rPr>
              <a:t>Department of Electronics and Communication Engineering.</a:t>
            </a:r>
            <a:endParaRPr lang="en-IN" sz="26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6388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1796782" cy="1518036"/>
          </a:xfrm>
          <a:prstGeom prst="rect">
            <a:avLst/>
          </a:prstGeom>
        </p:spPr>
      </p:pic>
      <p:sp>
        <p:nvSpPr>
          <p:cNvPr id="3" name="Content Placeholder 2"/>
          <p:cNvSpPr>
            <a:spLocks noGrp="1"/>
          </p:cNvSpPr>
          <p:nvPr>
            <p:ph idx="1"/>
          </p:nvPr>
        </p:nvSpPr>
        <p:spPr>
          <a:xfrm>
            <a:off x="1084642" y="2092076"/>
            <a:ext cx="12372372" cy="5143119"/>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Abstract</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Introduction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Existing System</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Literature Survey</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Proposed System</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Software Used</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Results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Applications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Conclusion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References</a:t>
            </a:r>
          </a:p>
          <a:p>
            <a:pPr marL="0" indent="0">
              <a:buNone/>
            </a:pPr>
            <a:endParaRPr lang="en-US" dirty="0"/>
          </a:p>
          <a:p>
            <a:pPr marL="0" indent="0">
              <a:buNone/>
            </a:pP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2</a:t>
            </a:fld>
            <a:endParaRPr lang="en-IN" dirty="0"/>
          </a:p>
        </p:txBody>
      </p:sp>
      <p:sp>
        <p:nvSpPr>
          <p:cNvPr id="2" name="TextBox 1">
            <a:extLst>
              <a:ext uri="{FF2B5EF4-FFF2-40B4-BE49-F238E27FC236}">
                <a16:creationId xmlns:a16="http://schemas.microsoft.com/office/drawing/2014/main" id="{00DE10B4-7C41-378F-E2DD-1F9791683A0D}"/>
              </a:ext>
            </a:extLst>
          </p:cNvPr>
          <p:cNvSpPr txBox="1"/>
          <p:nvPr/>
        </p:nvSpPr>
        <p:spPr>
          <a:xfrm>
            <a:off x="124243" y="1395541"/>
            <a:ext cx="241743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Contents</a:t>
            </a:r>
            <a:r>
              <a:rPr lang="en-US" dirty="0"/>
              <a:t> </a:t>
            </a:r>
            <a:endParaRPr lang="en-IN" dirty="0"/>
          </a:p>
        </p:txBody>
      </p:sp>
    </p:spTree>
    <p:extLst>
      <p:ext uri="{BB962C8B-B14F-4D97-AF65-F5344CB8AC3E}">
        <p14:creationId xmlns:p14="http://schemas.microsoft.com/office/powerpoint/2010/main" val="251312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43" y="354115"/>
            <a:ext cx="3227408" cy="931829"/>
          </a:xfrm>
        </p:spPr>
        <p:txBody>
          <a:bodyPr>
            <a:normAutofit fontScale="90000"/>
          </a:bodyPr>
          <a:lstStyle/>
          <a:p>
            <a:r>
              <a:rPr lang="en-US" sz="4900" b="1" dirty="0">
                <a:latin typeface="Times New Roman" panose="02020603050405020304" pitchFamily="18" charset="0"/>
                <a:cs typeface="Times New Roman" panose="02020603050405020304" pitchFamily="18" charset="0"/>
              </a:rPr>
              <a:t>Abstract</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3</a:t>
            </a:fld>
            <a:endParaRPr lang="en-IN" dirty="0"/>
          </a:p>
        </p:txBody>
      </p:sp>
      <p:sp>
        <p:nvSpPr>
          <p:cNvPr id="12" name="TextBox 11">
            <a:extLst>
              <a:ext uri="{FF2B5EF4-FFF2-40B4-BE49-F238E27FC236}">
                <a16:creationId xmlns:a16="http://schemas.microsoft.com/office/drawing/2014/main" id="{AF5F4AC0-4FB2-A44B-71C2-4D267252507A}"/>
              </a:ext>
            </a:extLst>
          </p:cNvPr>
          <p:cNvSpPr txBox="1"/>
          <p:nvPr/>
        </p:nvSpPr>
        <p:spPr>
          <a:xfrm>
            <a:off x="407043" y="1041102"/>
            <a:ext cx="11377914" cy="5909310"/>
          </a:xfrm>
          <a:prstGeom prst="rect">
            <a:avLst/>
          </a:prstGeom>
          <a:noFill/>
        </p:spPr>
        <p:txBody>
          <a:bodyPr wrap="square" rtlCol="0">
            <a:spAutoFit/>
          </a:bodyPr>
          <a:lstStyle/>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This work focuses on designing an efficient </a:t>
            </a:r>
            <a:r>
              <a:rPr lang="en-US" sz="2400" b="1" dirty="0">
                <a:latin typeface="Times New Roman" panose="02020603050405020304" pitchFamily="18" charset="0"/>
                <a:cs typeface="Times New Roman" panose="02020603050405020304" pitchFamily="18" charset="0"/>
              </a:rPr>
              <a:t>3.7 GHz microstrip patch antenna</a:t>
            </a:r>
            <a:r>
              <a:rPr lang="en-US" sz="2400" dirty="0">
                <a:latin typeface="Times New Roman" panose="02020603050405020304" pitchFamily="18" charset="0"/>
                <a:cs typeface="Times New Roman" panose="02020603050405020304" pitchFamily="18" charset="0"/>
              </a:rPr>
              <a:t> using ANSYS HFSS for Sub-6-GHz communication.</a:t>
            </a:r>
          </a:p>
          <a:p>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design aims to achieve </a:t>
            </a:r>
            <a:r>
              <a:rPr lang="en-US" sz="2400" b="1" dirty="0">
                <a:latin typeface="Times New Roman" panose="02020603050405020304" pitchFamily="18" charset="0"/>
                <a:cs typeface="Times New Roman" panose="02020603050405020304" pitchFamily="18" charset="0"/>
              </a:rPr>
              <a:t>wider bandwidth, improved gain, and stable radiation characteristics</a:t>
            </a:r>
            <a:r>
              <a:rPr lang="en-US" sz="2400" dirty="0">
                <a:latin typeface="Times New Roman" panose="02020603050405020304" pitchFamily="18" charset="0"/>
                <a:cs typeface="Times New Roman" panose="02020603050405020304" pitchFamily="18" charset="0"/>
              </a:rPr>
              <a:t> suitable for modern 5G systems.</a:t>
            </a:r>
          </a:p>
          <a:p>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An FR-4 substrate with a thickness of </a:t>
            </a:r>
            <a:r>
              <a:rPr lang="en-US" sz="2400" b="1" dirty="0">
                <a:latin typeface="Times New Roman" panose="02020603050405020304" pitchFamily="18" charset="0"/>
                <a:cs typeface="Times New Roman" panose="02020603050405020304" pitchFamily="18" charset="0"/>
              </a:rPr>
              <a:t>1.6 mm</a:t>
            </a:r>
            <a:r>
              <a:rPr lang="en-US" sz="2400" dirty="0">
                <a:latin typeface="Times New Roman" panose="02020603050405020304" pitchFamily="18" charset="0"/>
                <a:cs typeface="Times New Roman" panose="02020603050405020304" pitchFamily="18" charset="0"/>
              </a:rPr>
              <a:t> is used to enhance the antenna’s overall performance.</a:t>
            </a:r>
          </a:p>
          <a:p>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antenna structure is optimized to maintain compact size while providing </a:t>
            </a:r>
            <a:r>
              <a:rPr lang="en-US" sz="2400" b="1" dirty="0">
                <a:latin typeface="Times New Roman" panose="02020603050405020304" pitchFamily="18" charset="0"/>
                <a:cs typeface="Times New Roman" panose="02020603050405020304" pitchFamily="18" charset="0"/>
              </a:rPr>
              <a:t>effective suppression of unwanted frequency components</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Simulation results demonstrate </a:t>
            </a:r>
            <a:r>
              <a:rPr lang="en-US" sz="2400" b="1" dirty="0">
                <a:latin typeface="Times New Roman" panose="02020603050405020304" pitchFamily="18" charset="0"/>
                <a:cs typeface="Times New Roman" panose="02020603050405020304" pitchFamily="18" charset="0"/>
              </a:rPr>
              <a:t>good return loss, strong radiation behavior, and wide impedance bandwidth</a:t>
            </a:r>
            <a:r>
              <a:rPr lang="en-US" sz="2400" dirty="0">
                <a:latin typeface="Times New Roman" panose="02020603050405020304" pitchFamily="18" charset="0"/>
                <a:cs typeface="Times New Roman" panose="02020603050405020304" pitchFamily="18" charset="0"/>
              </a:rPr>
              <a:t>, making the antenna suitable for 5G, WiMAX, IoT, and general wireless communication.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570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765" y="375992"/>
            <a:ext cx="3831143" cy="820837"/>
          </a:xfrm>
        </p:spPr>
        <p:txBody>
          <a:bodyPr>
            <a:normAutofit fontScale="90000"/>
          </a:bodyPr>
          <a:lstStyle/>
          <a:p>
            <a:r>
              <a:rPr lang="en-US" sz="4900" b="1" dirty="0">
                <a:latin typeface="Times New Roman" panose="02020603050405020304" pitchFamily="18" charset="0"/>
                <a:cs typeface="Times New Roman" panose="02020603050405020304" pitchFamily="18" charset="0"/>
              </a:rPr>
              <a:t>Introduction</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4</a:t>
            </a:fld>
            <a:endParaRPr lang="en-IN" dirty="0"/>
          </a:p>
        </p:txBody>
      </p:sp>
      <p:sp>
        <p:nvSpPr>
          <p:cNvPr id="6" name="TextBox 5">
            <a:extLst>
              <a:ext uri="{FF2B5EF4-FFF2-40B4-BE49-F238E27FC236}">
                <a16:creationId xmlns:a16="http://schemas.microsoft.com/office/drawing/2014/main" id="{EF7BE74E-11A9-5483-58D0-035648E6452E}"/>
              </a:ext>
            </a:extLst>
          </p:cNvPr>
          <p:cNvSpPr txBox="1"/>
          <p:nvPr/>
        </p:nvSpPr>
        <p:spPr>
          <a:xfrm>
            <a:off x="416768" y="979714"/>
            <a:ext cx="10937030" cy="5909310"/>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Today’s wireless devices need antennas to send and receive signals.</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3.7 GHz band</a:t>
            </a:r>
            <a:r>
              <a:rPr lang="en-US" sz="2400" dirty="0">
                <a:latin typeface="Times New Roman" panose="02020603050405020304" pitchFamily="18" charset="0"/>
                <a:cs typeface="Times New Roman" panose="02020603050405020304" pitchFamily="18" charset="0"/>
              </a:rPr>
              <a:t> is widely used in </a:t>
            </a:r>
            <a:r>
              <a:rPr lang="en-US" sz="2400" b="1" dirty="0">
                <a:latin typeface="Times New Roman" panose="02020603050405020304" pitchFamily="18" charset="0"/>
                <a:cs typeface="Times New Roman" panose="02020603050405020304" pitchFamily="18" charset="0"/>
              </a:rPr>
              <a:t>5G and modern communication</a:t>
            </a:r>
            <a:r>
              <a:rPr lang="en-US" sz="24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Normal antennas at this frequency often have </a:t>
            </a:r>
            <a:r>
              <a:rPr lang="en-US" sz="2400" b="1" dirty="0">
                <a:latin typeface="Times New Roman" panose="02020603050405020304" pitchFamily="18" charset="0"/>
                <a:cs typeface="Times New Roman" panose="02020603050405020304" pitchFamily="18" charset="0"/>
              </a:rPr>
              <a:t>limited bandwidth</a:t>
            </a:r>
            <a:r>
              <a:rPr lang="en-US" sz="2400" dirty="0">
                <a:latin typeface="Times New Roman" panose="02020603050405020304" pitchFamily="18" charset="0"/>
                <a:cs typeface="Times New Roman" panose="02020603050405020304" pitchFamily="18" charset="0"/>
              </a:rPr>
              <a:t> and may face </a:t>
            </a:r>
            <a:r>
              <a:rPr lang="en-US" sz="2400" b="1" dirty="0">
                <a:latin typeface="Times New Roman" panose="02020603050405020304" pitchFamily="18" charset="0"/>
                <a:cs typeface="Times New Roman" panose="02020603050405020304" pitchFamily="18" charset="0"/>
              </a:rPr>
              <a:t>signal losses</a:t>
            </a:r>
            <a:r>
              <a:rPr lang="en-US" sz="24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 we designed a </a:t>
            </a:r>
            <a:r>
              <a:rPr lang="en-US" sz="2400" b="1" dirty="0">
                <a:latin typeface="Times New Roman" panose="02020603050405020304" pitchFamily="18" charset="0"/>
                <a:cs typeface="Times New Roman" panose="02020603050405020304" pitchFamily="18" charset="0"/>
              </a:rPr>
              <a:t>better microstrip patch antenna</a:t>
            </a:r>
            <a:r>
              <a:rPr lang="en-US" sz="2400" dirty="0">
                <a:latin typeface="Times New Roman" panose="02020603050405020304" pitchFamily="18" charset="0"/>
                <a:cs typeface="Times New Roman" panose="02020603050405020304" pitchFamily="18" charset="0"/>
              </a:rPr>
              <a:t> using </a:t>
            </a:r>
            <a:r>
              <a:rPr lang="en-US" sz="2400" b="1" dirty="0">
                <a:latin typeface="Times New Roman" panose="02020603050405020304" pitchFamily="18" charset="0"/>
                <a:cs typeface="Times New Roman" panose="02020603050405020304" pitchFamily="18" charset="0"/>
              </a:rPr>
              <a:t>HFSS</a:t>
            </a:r>
            <a:r>
              <a:rPr lang="en-US" sz="24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goal is to get </a:t>
            </a:r>
            <a:r>
              <a:rPr lang="en-US" sz="2400" b="1" dirty="0">
                <a:latin typeface="Times New Roman" panose="02020603050405020304" pitchFamily="18" charset="0"/>
                <a:cs typeface="Times New Roman" panose="02020603050405020304" pitchFamily="18" charset="0"/>
              </a:rPr>
              <a:t>higher bandwidth</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better signal strength</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less unwanted frequency interference</a:t>
            </a:r>
            <a:r>
              <a:rPr lang="en-US" sz="24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Our design uses an </a:t>
            </a:r>
            <a:r>
              <a:rPr lang="en-US" sz="2400" b="1" dirty="0">
                <a:latin typeface="Times New Roman" panose="02020603050405020304" pitchFamily="18" charset="0"/>
                <a:cs typeface="Times New Roman" panose="02020603050405020304" pitchFamily="18" charset="0"/>
              </a:rPr>
              <a:t>FR4 substrate</a:t>
            </a:r>
            <a:r>
              <a:rPr lang="en-US" sz="2400" dirty="0">
                <a:latin typeface="Times New Roman" panose="02020603050405020304" pitchFamily="18" charset="0"/>
                <a:cs typeface="Times New Roman" panose="02020603050405020304" pitchFamily="18" charset="0"/>
              </a:rPr>
              <a:t> with a </a:t>
            </a:r>
            <a:r>
              <a:rPr lang="en-US" sz="2400" b="1" dirty="0">
                <a:latin typeface="Times New Roman" panose="02020603050405020304" pitchFamily="18" charset="0"/>
                <a:cs typeface="Times New Roman" panose="02020603050405020304" pitchFamily="18" charset="0"/>
              </a:rPr>
              <a:t>1.6 mm thickness</a:t>
            </a:r>
            <a:r>
              <a:rPr lang="en-US" sz="2400" dirty="0">
                <a:latin typeface="Times New Roman" panose="02020603050405020304" pitchFamily="18" charset="0"/>
                <a:cs typeface="Times New Roman" panose="02020603050405020304" pitchFamily="18" charset="0"/>
              </a:rPr>
              <a:t> to improve performance.</a:t>
            </a:r>
          </a:p>
          <a:p>
            <a:pPr marL="342900" indent="-342900">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antenna is suitable for </a:t>
            </a:r>
            <a:r>
              <a:rPr lang="en-US" sz="2400" b="1" dirty="0">
                <a:latin typeface="Times New Roman" panose="02020603050405020304" pitchFamily="18" charset="0"/>
                <a:cs typeface="Times New Roman" panose="02020603050405020304" pitchFamily="18" charset="0"/>
              </a:rPr>
              <a:t>5G, WiMAX, IoT, and Sub-6-GHz applications</a:t>
            </a:r>
            <a:r>
              <a:rPr lang="en-US" sz="24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012903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15" y="229123"/>
            <a:ext cx="10515600" cy="1325563"/>
          </a:xfrm>
        </p:spPr>
        <p:txBody>
          <a:bodyPr/>
          <a:lstStyle/>
          <a:p>
            <a:r>
              <a:rPr lang="en-US" b="1" dirty="0">
                <a:latin typeface="Times New Roman" panose="02020603050405020304" pitchFamily="18" charset="0"/>
                <a:cs typeface="Times New Roman" panose="02020603050405020304" pitchFamily="18" charset="0"/>
              </a:rPr>
              <a:t>Existing System</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5</a:t>
            </a:fld>
            <a:endParaRPr lang="en-IN" dirty="0"/>
          </a:p>
        </p:txBody>
      </p:sp>
      <p:sp>
        <p:nvSpPr>
          <p:cNvPr id="6" name="Rectangle 1">
            <a:extLst>
              <a:ext uri="{FF2B5EF4-FFF2-40B4-BE49-F238E27FC236}">
                <a16:creationId xmlns:a16="http://schemas.microsoft.com/office/drawing/2014/main" id="{A3DF4EE2-0D51-D3CE-B3C5-A2EFBA64E38D}"/>
              </a:ext>
            </a:extLst>
          </p:cNvPr>
          <p:cNvSpPr>
            <a:spLocks noGrp="1" noChangeArrowheads="1"/>
          </p:cNvSpPr>
          <p:nvPr>
            <p:ph idx="1"/>
          </p:nvPr>
        </p:nvSpPr>
        <p:spPr bwMode="auto">
          <a:xfrm>
            <a:off x="250785" y="1089164"/>
            <a:ext cx="1169043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existing antenna design from the base paper uses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FR4 substrate with 0.8 mm thickness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resonates around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3.54 GHz</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dB bandwidth of about 400 MHz (3.35–3.75 GHz)</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achieved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realized gain is 2.11 dB</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directivity is 3.10 dB</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return loss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–32.87 dB</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indicating good matching, but the bandwidth remains limited.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antenna does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include filtering behavior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 it cannot suppress unwanted higher-order frequencies.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existing system works, but it does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meet modern wireless requirements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wide bandwidth and high signal quality needed for 5G mid-band.</a:t>
            </a:r>
          </a:p>
        </p:txBody>
      </p:sp>
    </p:spTree>
    <p:extLst>
      <p:ext uri="{BB962C8B-B14F-4D97-AF65-F5344CB8AC3E}">
        <p14:creationId xmlns:p14="http://schemas.microsoft.com/office/powerpoint/2010/main" val="609151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9800B7-EB22-4356-9B89-568C59CC0F89}" type="slidenum">
              <a:rPr lang="en-IN" smtClean="0"/>
              <a:t>6</a:t>
            </a:fld>
            <a:endParaRPr lang="en-IN" dirty="0"/>
          </a:p>
        </p:txBody>
      </p:sp>
      <p:sp>
        <p:nvSpPr>
          <p:cNvPr id="14" name="Rectangle 13"/>
          <p:cNvSpPr/>
          <p:nvPr/>
        </p:nvSpPr>
        <p:spPr>
          <a:xfrm>
            <a:off x="173620" y="0"/>
            <a:ext cx="8817428" cy="769441"/>
          </a:xfrm>
          <a:prstGeom prst="rect">
            <a:avLst/>
          </a:prstGeom>
        </p:spPr>
        <p:txBody>
          <a:bodyPr wrap="square">
            <a:spAutoFit/>
          </a:bodyPr>
          <a:lstStyle/>
          <a:p>
            <a:r>
              <a:rPr lang="en-IN" sz="4400" b="1" dirty="0">
                <a:latin typeface="Times New Roman" panose="02020603050405020304" pitchFamily="18" charset="0"/>
                <a:cs typeface="Times New Roman" panose="02020603050405020304" pitchFamily="18" charset="0"/>
              </a:rPr>
              <a:t>Literature Survey</a:t>
            </a:r>
          </a:p>
        </p:txBody>
      </p:sp>
      <p:graphicFrame>
        <p:nvGraphicFramePr>
          <p:cNvPr id="5" name="Table 4">
            <a:extLst>
              <a:ext uri="{FF2B5EF4-FFF2-40B4-BE49-F238E27FC236}">
                <a16:creationId xmlns:a16="http://schemas.microsoft.com/office/drawing/2014/main" id="{2DD11194-37D1-8D1E-0539-56FECA1719C2}"/>
              </a:ext>
            </a:extLst>
          </p:cNvPr>
          <p:cNvGraphicFramePr>
            <a:graphicFrameLocks noGrp="1"/>
          </p:cNvGraphicFramePr>
          <p:nvPr>
            <p:extLst>
              <p:ext uri="{D42A27DB-BD31-4B8C-83A1-F6EECF244321}">
                <p14:modId xmlns:p14="http://schemas.microsoft.com/office/powerpoint/2010/main" val="788912849"/>
              </p:ext>
            </p:extLst>
          </p:nvPr>
        </p:nvGraphicFramePr>
        <p:xfrm>
          <a:off x="173620" y="863600"/>
          <a:ext cx="11875625" cy="5906600"/>
        </p:xfrm>
        <a:graphic>
          <a:graphicData uri="http://schemas.openxmlformats.org/drawingml/2006/table">
            <a:tbl>
              <a:tblPr firstRow="1" bandRow="1">
                <a:tableStyleId>{5C22544A-7EE6-4342-B048-85BDC9FD1C3A}</a:tableStyleId>
              </a:tblPr>
              <a:tblGrid>
                <a:gridCol w="509286">
                  <a:extLst>
                    <a:ext uri="{9D8B030D-6E8A-4147-A177-3AD203B41FA5}">
                      <a16:colId xmlns:a16="http://schemas.microsoft.com/office/drawing/2014/main" val="1618635687"/>
                    </a:ext>
                  </a:extLst>
                </a:gridCol>
                <a:gridCol w="1632031">
                  <a:extLst>
                    <a:ext uri="{9D8B030D-6E8A-4147-A177-3AD203B41FA5}">
                      <a16:colId xmlns:a16="http://schemas.microsoft.com/office/drawing/2014/main" val="2001790527"/>
                    </a:ext>
                  </a:extLst>
                </a:gridCol>
                <a:gridCol w="3819645">
                  <a:extLst>
                    <a:ext uri="{9D8B030D-6E8A-4147-A177-3AD203B41FA5}">
                      <a16:colId xmlns:a16="http://schemas.microsoft.com/office/drawing/2014/main" val="3065376025"/>
                    </a:ext>
                  </a:extLst>
                </a:gridCol>
                <a:gridCol w="1683122">
                  <a:extLst>
                    <a:ext uri="{9D8B030D-6E8A-4147-A177-3AD203B41FA5}">
                      <a16:colId xmlns:a16="http://schemas.microsoft.com/office/drawing/2014/main" val="737157349"/>
                    </a:ext>
                  </a:extLst>
                </a:gridCol>
                <a:gridCol w="2090225">
                  <a:extLst>
                    <a:ext uri="{9D8B030D-6E8A-4147-A177-3AD203B41FA5}">
                      <a16:colId xmlns:a16="http://schemas.microsoft.com/office/drawing/2014/main" val="1308315266"/>
                    </a:ext>
                  </a:extLst>
                </a:gridCol>
                <a:gridCol w="2141316">
                  <a:extLst>
                    <a:ext uri="{9D8B030D-6E8A-4147-A177-3AD203B41FA5}">
                      <a16:colId xmlns:a16="http://schemas.microsoft.com/office/drawing/2014/main" val="2990956018"/>
                    </a:ext>
                  </a:extLst>
                </a:gridCol>
              </a:tblGrid>
              <a:tr h="510179">
                <a:tc>
                  <a:txBody>
                    <a:bodyPr/>
                    <a:lstStyle/>
                    <a:p>
                      <a:pPr>
                        <a:buNone/>
                      </a:pPr>
                      <a:r>
                        <a:rPr lang="en-IN" sz="1400" b="1" dirty="0">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Author / Year</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Title of the Paper</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Components Used</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Techniques Used</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Drawback</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82251366"/>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Li et al., 2024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T-Shaped Strips Loaded Filtering Patch Antenna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 T-strips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Transmission-zero creation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Moderate bandwidth</a:t>
                      </a:r>
                    </a:p>
                  </a:txBody>
                  <a:tcPr anchor="ctr"/>
                </a:tc>
                <a:extLst>
                  <a:ext uri="{0D108BD9-81ED-4DB2-BD59-A6C34878D82A}">
                    <a16:rowId xmlns:a16="http://schemas.microsoft.com/office/drawing/2014/main" val="1860637247"/>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Chen et al., 2022</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Wideband Filtering Antenna With Multipath Coupling</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 resonators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Multi-path coupling</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Difficult tuning</a:t>
                      </a:r>
                    </a:p>
                  </a:txBody>
                  <a:tcPr anchor="ctr"/>
                </a:tc>
                <a:extLst>
                  <a:ext uri="{0D108BD9-81ED-4DB2-BD59-A6C34878D82A}">
                    <a16:rowId xmlns:a16="http://schemas.microsoft.com/office/drawing/2014/main" val="3698915568"/>
                  </a:ext>
                </a:extLst>
              </a:tr>
              <a:tr h="729681">
                <a:tc>
                  <a:txBody>
                    <a:bodyPr/>
                    <a:lstStyle/>
                    <a:p>
                      <a:pPr>
                        <a:buNone/>
                      </a:pPr>
                      <a:r>
                        <a:rPr lang="en-IN" sz="1400" b="1"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Renwarin et al., 2024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Triangular Patch Antenna With Harmonic Suppression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Triangular patch + arc slots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Slot-loaded harmonic cancellation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Limited gain</a:t>
                      </a:r>
                    </a:p>
                  </a:txBody>
                  <a:tcPr anchor="ctr"/>
                </a:tc>
                <a:extLst>
                  <a:ext uri="{0D108BD9-81ED-4DB2-BD59-A6C34878D82A}">
                    <a16:rowId xmlns:a16="http://schemas.microsoft.com/office/drawing/2014/main" val="3093158307"/>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Bicer &amp; Aydin, 2024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Compact ETMPA Analysis Using GPR Model</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Triangular patch</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ML-based optimization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High computation load</a:t>
                      </a:r>
                    </a:p>
                  </a:txBody>
                  <a:tcPr anchor="ctr"/>
                </a:tc>
                <a:extLst>
                  <a:ext uri="{0D108BD9-81ED-4DB2-BD59-A6C34878D82A}">
                    <a16:rowId xmlns:a16="http://schemas.microsoft.com/office/drawing/2014/main" val="1493925291"/>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Saeed et al., 2024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Microstrip Antenna for Sub-6-GHz 5G Applications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with slots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Slot shaping</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Narrow filtering effect</a:t>
                      </a:r>
                    </a:p>
                  </a:txBody>
                  <a:tcPr anchor="ctr"/>
                </a:tc>
                <a:extLst>
                  <a:ext uri="{0D108BD9-81ED-4DB2-BD59-A6C34878D82A}">
                    <a16:rowId xmlns:a16="http://schemas.microsoft.com/office/drawing/2014/main" val="1357032983"/>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Gnanalakshmi et al., 2024</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Sierpinski Fractal Microstrip Antenna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Fractal patch</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Fractal geometry iteration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Low gain (&lt;1 dB)</a:t>
                      </a:r>
                    </a:p>
                  </a:txBody>
                  <a:tcPr anchor="ctr"/>
                </a:tc>
                <a:extLst>
                  <a:ext uri="{0D108BD9-81ED-4DB2-BD59-A6C34878D82A}">
                    <a16:rowId xmlns:a16="http://schemas.microsoft.com/office/drawing/2014/main" val="2395891325"/>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Pan et al., 2022</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Compact Slot-Loaded Patch for 3.5 GHz</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 U/G-slots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Slot loading</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No sharp filtering</a:t>
                      </a:r>
                    </a:p>
                  </a:txBody>
                  <a:tcPr anchor="ctr"/>
                </a:tc>
                <a:extLst>
                  <a:ext uri="{0D108BD9-81ED-4DB2-BD59-A6C34878D82A}">
                    <a16:rowId xmlns:a16="http://schemas.microsoft.com/office/drawing/2014/main" val="3631236380"/>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Kumar et al., 2024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Multiband Triangular Patch With V-Slots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Triangular patch + V-slots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Multi-resonance</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Complex geometry</a:t>
                      </a:r>
                    </a:p>
                  </a:txBody>
                  <a:tcPr anchor="ctr"/>
                </a:tc>
                <a:extLst>
                  <a:ext uri="{0D108BD9-81ED-4DB2-BD59-A6C34878D82A}">
                    <a16:rowId xmlns:a16="http://schemas.microsoft.com/office/drawing/2014/main" val="845175665"/>
                  </a:ext>
                </a:extLst>
              </a:tr>
              <a:tr h="513479">
                <a:tc>
                  <a:txBody>
                    <a:bodyPr/>
                    <a:lstStyle/>
                    <a:p>
                      <a:pPr>
                        <a:buNone/>
                      </a:pPr>
                      <a:r>
                        <a:rPr lang="en-IN" sz="1400" b="1"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Lee et al., 2023</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Compact Sub-6-GHz Filtering Radiator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 notches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Resonance control</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Reduced radiation efficiency</a:t>
                      </a:r>
                    </a:p>
                  </a:txBody>
                  <a:tcPr anchor="ctr"/>
                </a:tc>
                <a:extLst>
                  <a:ext uri="{0D108BD9-81ED-4DB2-BD59-A6C34878D82A}">
                    <a16:rowId xmlns:a16="http://schemas.microsoft.com/office/drawing/2014/main" val="647683442"/>
                  </a:ext>
                </a:extLst>
              </a:tr>
              <a:tr h="510179">
                <a:tc>
                  <a:txBody>
                    <a:bodyPr/>
                    <a:lstStyle/>
                    <a:p>
                      <a:pPr>
                        <a:buNone/>
                      </a:pPr>
                      <a:r>
                        <a:rPr lang="en-IN" sz="1400" b="1" dirty="0">
                          <a:latin typeface="Times New Roman" panose="02020603050405020304" pitchFamily="18" charset="0"/>
                          <a:cs typeface="Times New Roman" panose="02020603050405020304" pitchFamily="18" charset="0"/>
                        </a:rPr>
                        <a:t>10</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Xu et al., 2023</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Single-Layer SIW-Integrated Filtering Antenna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Patch + SIW</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SIW cavity coupling</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Slightly higher fabrication complexity</a:t>
                      </a:r>
                    </a:p>
                  </a:txBody>
                  <a:tcPr anchor="ctr"/>
                </a:tc>
                <a:extLst>
                  <a:ext uri="{0D108BD9-81ED-4DB2-BD59-A6C34878D82A}">
                    <a16:rowId xmlns:a16="http://schemas.microsoft.com/office/drawing/2014/main" val="2054781256"/>
                  </a:ext>
                </a:extLst>
              </a:tr>
            </a:tbl>
          </a:graphicData>
        </a:graphic>
      </p:graphicFrame>
    </p:spTree>
    <p:extLst>
      <p:ext uri="{BB962C8B-B14F-4D97-AF65-F5344CB8AC3E}">
        <p14:creationId xmlns:p14="http://schemas.microsoft.com/office/powerpoint/2010/main" val="606058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316" y="344768"/>
            <a:ext cx="10515600" cy="708036"/>
          </a:xfrm>
        </p:spPr>
        <p:txBody>
          <a:bodyPr>
            <a:noAutofit/>
          </a:bodyPr>
          <a:lstStyle/>
          <a:p>
            <a:r>
              <a:rPr lang="en-US" b="1" dirty="0">
                <a:latin typeface="Times New Roman" panose="02020603050405020304" pitchFamily="18" charset="0"/>
                <a:cs typeface="Times New Roman" panose="02020603050405020304" pitchFamily="18" charset="0"/>
              </a:rPr>
              <a:t>Proposed System</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7</a:t>
            </a:fld>
            <a:endParaRPr lang="en-IN" dirty="0"/>
          </a:p>
        </p:txBody>
      </p:sp>
      <p:sp>
        <p:nvSpPr>
          <p:cNvPr id="8" name="TextBox 7">
            <a:extLst>
              <a:ext uri="{FF2B5EF4-FFF2-40B4-BE49-F238E27FC236}">
                <a16:creationId xmlns:a16="http://schemas.microsoft.com/office/drawing/2014/main" id="{AF534168-ABEF-2591-2A05-0B3D1C1015FD}"/>
              </a:ext>
            </a:extLst>
          </p:cNvPr>
          <p:cNvSpPr txBox="1"/>
          <p:nvPr/>
        </p:nvSpPr>
        <p:spPr>
          <a:xfrm>
            <a:off x="726311" y="4015867"/>
            <a:ext cx="11604585" cy="307777"/>
          </a:xfrm>
          <a:prstGeom prst="rect">
            <a:avLst/>
          </a:prstGeom>
          <a:noFill/>
        </p:spPr>
        <p:txBody>
          <a:bodyPr wrap="square" rtlCol="0">
            <a:spAutoFit/>
          </a:bodyPr>
          <a:lstStyle/>
          <a:p>
            <a:endParaRPr lang="en-IN" sz="1400" dirty="0"/>
          </a:p>
        </p:txBody>
      </p:sp>
      <p:sp>
        <p:nvSpPr>
          <p:cNvPr id="11" name="TextBox 10">
            <a:extLst>
              <a:ext uri="{FF2B5EF4-FFF2-40B4-BE49-F238E27FC236}">
                <a16:creationId xmlns:a16="http://schemas.microsoft.com/office/drawing/2014/main" id="{2464E428-C4CF-0DF3-17C3-795461F4509E}"/>
              </a:ext>
            </a:extLst>
          </p:cNvPr>
          <p:cNvSpPr txBox="1"/>
          <p:nvPr/>
        </p:nvSpPr>
        <p:spPr>
          <a:xfrm>
            <a:off x="962627" y="4323644"/>
            <a:ext cx="11338368" cy="5360926"/>
          </a:xfrm>
          <a:prstGeom prst="rect">
            <a:avLst/>
          </a:prstGeom>
          <a:noFill/>
        </p:spPr>
        <p:txBody>
          <a:bodyPr wrap="square" rtlCol="0">
            <a:spAutoFit/>
          </a:bodyPr>
          <a:lstStyle/>
          <a:p>
            <a:endParaRPr lang="en-IN" dirty="0"/>
          </a:p>
        </p:txBody>
      </p:sp>
      <p:sp>
        <p:nvSpPr>
          <p:cNvPr id="12" name="Rectangle 5">
            <a:extLst>
              <a:ext uri="{FF2B5EF4-FFF2-40B4-BE49-F238E27FC236}">
                <a16:creationId xmlns:a16="http://schemas.microsoft.com/office/drawing/2014/main" id="{E4D854A5-9185-51C7-9F57-8C05A95BF603}"/>
              </a:ext>
            </a:extLst>
          </p:cNvPr>
          <p:cNvSpPr>
            <a:spLocks noChangeArrowheads="1"/>
          </p:cNvSpPr>
          <p:nvPr/>
        </p:nvSpPr>
        <p:spPr bwMode="auto">
          <a:xfrm>
            <a:off x="236316" y="698786"/>
            <a:ext cx="11982692"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introduces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3.7 GHz filtering microstrip patch antenna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ANSYS HFSS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antenna uses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FR4 substrate (εr = 4.3) with increased thickness of 1.6 mm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performance.</a:t>
            </a: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filtering-based radiator structure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included inside the patch to naturally remove unwanted frequencies without using extra filter circuits.</a:t>
            </a: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improved design provides:</a:t>
            </a:r>
          </a:p>
          <a:p>
            <a:pPr marL="1257300" lvl="2" indent="-342900" eaLnBrk="0" fontAlgn="base" hangingPunct="0">
              <a:spcBef>
                <a:spcPts val="5"/>
              </a:spcBef>
              <a:spcAft>
                <a:spcPct val="0"/>
              </a:spcAft>
              <a:buFont typeface="Wingdings" panose="05000000000000000000" pitchFamily="2" charset="2"/>
              <a:buChar char="ü"/>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Wide –10 dB bandwidth (~950 MHz, 3.30–4.25 GHz)</a:t>
            </a:r>
            <a:endParaRPr lang="en-US" altLang="en-US" sz="2400" dirty="0">
              <a:latin typeface="Times New Roman" panose="02020603050405020304" pitchFamily="18" charset="0"/>
              <a:cs typeface="Times New Roman" panose="02020603050405020304" pitchFamily="18" charset="0"/>
            </a:endParaRPr>
          </a:p>
          <a:p>
            <a:pPr marL="1257300" lvl="2" indent="-342900" eaLnBrk="0" fontAlgn="base" hangingPunct="0">
              <a:spcBef>
                <a:spcPts val="5"/>
              </a:spcBef>
              <a:spcAft>
                <a:spcPct val="0"/>
              </a:spcAft>
              <a:buFont typeface="Wingdings" panose="05000000000000000000" pitchFamily="2" charset="2"/>
              <a:buChar char="ü"/>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realized gain (~3 dB)</a:t>
            </a:r>
            <a:endParaRPr lang="en-US" altLang="en-US" sz="2400" dirty="0">
              <a:latin typeface="Times New Roman" panose="02020603050405020304" pitchFamily="18" charset="0"/>
              <a:cs typeface="Times New Roman" panose="02020603050405020304" pitchFamily="18" charset="0"/>
            </a:endParaRPr>
          </a:p>
          <a:p>
            <a:pPr marL="1257300" lvl="2" indent="-342900" eaLnBrk="0" fontAlgn="base" hangingPunct="0">
              <a:spcBef>
                <a:spcPts val="5"/>
              </a:spcBef>
              <a:spcAft>
                <a:spcPct val="0"/>
              </a:spcAft>
              <a:buFont typeface="Wingdings" panose="05000000000000000000" pitchFamily="2" charset="2"/>
              <a:buChar char="ü"/>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directivity (3.33 dB)</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antenna maintains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compact, low-cost, single-layer design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suitable for real 5G devices.</a:t>
            </a: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HFSS simulations confirm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good return loss (–17.1 dB)</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strong radiation, and stable performance in the 5G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n78 band (3.3–3.8 GHz)</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5"/>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is designed to perform better than the older 0.8 mm design by offering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bandwidth, higher gain, and clean filtering behavior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29522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20" y="136525"/>
            <a:ext cx="10515600" cy="1325563"/>
          </a:xfrm>
        </p:spPr>
        <p:txBody>
          <a:bodyPr/>
          <a:lstStyle/>
          <a:p>
            <a:r>
              <a:rPr lang="en-US" b="1" dirty="0">
                <a:latin typeface="Times New Roman" panose="02020603050405020304" pitchFamily="18" charset="0"/>
                <a:cs typeface="Times New Roman" panose="02020603050405020304" pitchFamily="18" charset="0"/>
              </a:rPr>
              <a:t>Software Used</a:t>
            </a:r>
            <a:br>
              <a:rPr lang="en-US" b="1" dirty="0">
                <a:latin typeface="Times New Roman" panose="02020603050405020304" pitchFamily="18" charset="0"/>
                <a:cs typeface="Times New Roman" panose="02020603050405020304" pitchFamily="18" charset="0"/>
              </a:rPr>
            </a:br>
            <a:endParaRPr lang="en-IN" b="1" dirty="0"/>
          </a:p>
        </p:txBody>
      </p:sp>
      <p:sp>
        <p:nvSpPr>
          <p:cNvPr id="4" name="Slide Number Placeholder 3"/>
          <p:cNvSpPr>
            <a:spLocks noGrp="1"/>
          </p:cNvSpPr>
          <p:nvPr>
            <p:ph type="sldNum" sz="quarter" idx="12"/>
          </p:nvPr>
        </p:nvSpPr>
        <p:spPr/>
        <p:txBody>
          <a:bodyPr/>
          <a:lstStyle/>
          <a:p>
            <a:fld id="{3C9800B7-EB22-4356-9B89-568C59CC0F89}" type="slidenum">
              <a:rPr lang="en-IN" smtClean="0"/>
              <a:t>8</a:t>
            </a:fld>
            <a:endParaRPr lang="en-IN" dirty="0"/>
          </a:p>
        </p:txBody>
      </p:sp>
      <p:sp>
        <p:nvSpPr>
          <p:cNvPr id="5" name="Rectangle 1">
            <a:extLst>
              <a:ext uri="{FF2B5EF4-FFF2-40B4-BE49-F238E27FC236}">
                <a16:creationId xmlns:a16="http://schemas.microsoft.com/office/drawing/2014/main" id="{9A06D441-73CA-3F42-2AB8-6DE1A6C834F2}"/>
              </a:ext>
            </a:extLst>
          </p:cNvPr>
          <p:cNvSpPr>
            <a:spLocks noGrp="1" noChangeArrowheads="1"/>
          </p:cNvSpPr>
          <p:nvPr>
            <p:ph idx="1"/>
          </p:nvPr>
        </p:nvSpPr>
        <p:spPr bwMode="auto">
          <a:xfrm>
            <a:off x="486136" y="1042287"/>
            <a:ext cx="10382491" cy="6196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latin typeface="Times New Roman" panose="02020603050405020304" pitchFamily="18" charset="0"/>
                <a:cs typeface="Times New Roman" panose="02020603050405020304" pitchFamily="18" charset="0"/>
              </a:rPr>
              <a:t>ANSYS HFSS (High Frequency Structure Simulator)</a:t>
            </a:r>
          </a:p>
          <a:p>
            <a:pPr lvl="1" algn="just"/>
            <a:r>
              <a:rPr lang="en-US" dirty="0">
                <a:latin typeface="Times New Roman" panose="02020603050405020304" pitchFamily="18" charset="0"/>
                <a:cs typeface="Times New Roman" panose="02020603050405020304" pitchFamily="18" charset="0"/>
              </a:rPr>
              <a:t>HFSS is a professional electromagnetic simulation software used to design antennas and RF components.</a:t>
            </a:r>
          </a:p>
          <a:p>
            <a:pPr lvl="1" algn="just"/>
            <a:r>
              <a:rPr lang="en-US" dirty="0">
                <a:latin typeface="Times New Roman" panose="02020603050405020304" pitchFamily="18" charset="0"/>
                <a:cs typeface="Times New Roman" panose="02020603050405020304" pitchFamily="18" charset="0"/>
              </a:rPr>
              <a:t>It helps us </a:t>
            </a:r>
            <a:r>
              <a:rPr lang="en-US" b="1" dirty="0">
                <a:latin typeface="Times New Roman" panose="02020603050405020304" pitchFamily="18" charset="0"/>
                <a:cs typeface="Times New Roman" panose="02020603050405020304" pitchFamily="18" charset="0"/>
              </a:rPr>
              <a:t>model, test, and analyze</a:t>
            </a:r>
            <a:r>
              <a:rPr lang="en-US" dirty="0">
                <a:latin typeface="Times New Roman" panose="02020603050405020304" pitchFamily="18" charset="0"/>
                <a:cs typeface="Times New Roman" panose="02020603050405020304" pitchFamily="18" charset="0"/>
              </a:rPr>
              <a:t> the antenna before real fabrication.</a:t>
            </a:r>
          </a:p>
          <a:p>
            <a:pPr lvl="1" algn="just"/>
            <a:r>
              <a:rPr lang="en-US" dirty="0">
                <a:latin typeface="Times New Roman" panose="02020603050405020304" pitchFamily="18" charset="0"/>
                <a:cs typeface="Times New Roman" panose="02020603050405020304" pitchFamily="18" charset="0"/>
              </a:rPr>
              <a:t>The software provides accurate results for:</a:t>
            </a:r>
          </a:p>
          <a:p>
            <a:pPr lvl="2" algn="just"/>
            <a:r>
              <a:rPr lang="en-US" sz="2400" dirty="0">
                <a:latin typeface="Times New Roman" panose="02020603050405020304" pitchFamily="18" charset="0"/>
                <a:cs typeface="Times New Roman" panose="02020603050405020304" pitchFamily="18" charset="0"/>
              </a:rPr>
              <a:t>Return loss (S₁₁)</a:t>
            </a:r>
          </a:p>
          <a:p>
            <a:pPr lvl="2" algn="just"/>
            <a:r>
              <a:rPr lang="en-US" sz="2400" dirty="0">
                <a:latin typeface="Times New Roman" panose="02020603050405020304" pitchFamily="18" charset="0"/>
                <a:cs typeface="Times New Roman" panose="02020603050405020304" pitchFamily="18" charset="0"/>
              </a:rPr>
              <a:t>Gain and directivity</a:t>
            </a:r>
          </a:p>
          <a:p>
            <a:pPr lvl="2" algn="just"/>
            <a:r>
              <a:rPr lang="en-US" sz="2400" dirty="0">
                <a:latin typeface="Times New Roman" panose="02020603050405020304" pitchFamily="18" charset="0"/>
                <a:cs typeface="Times New Roman" panose="02020603050405020304" pitchFamily="18" charset="0"/>
              </a:rPr>
              <a:t>Radiation pattern</a:t>
            </a:r>
          </a:p>
          <a:p>
            <a:pPr lvl="2" algn="just"/>
            <a:r>
              <a:rPr lang="en-US" sz="2400" dirty="0">
                <a:latin typeface="Times New Roman" panose="02020603050405020304" pitchFamily="18" charset="0"/>
                <a:cs typeface="Times New Roman" panose="02020603050405020304" pitchFamily="18" charset="0"/>
              </a:rPr>
              <a:t>Bandwidth</a:t>
            </a:r>
          </a:p>
          <a:p>
            <a:pPr lvl="2" algn="just"/>
            <a:r>
              <a:rPr lang="en-US" sz="2400" dirty="0">
                <a:latin typeface="Times New Roman" panose="02020603050405020304" pitchFamily="18" charset="0"/>
                <a:cs typeface="Times New Roman" panose="02020603050405020304" pitchFamily="18" charset="0"/>
              </a:rPr>
              <a:t>Electric &amp; magnetic field distributions</a:t>
            </a:r>
          </a:p>
          <a:p>
            <a:pPr lvl="1" algn="just"/>
            <a:r>
              <a:rPr lang="en-US" dirty="0">
                <a:latin typeface="Times New Roman" panose="02020603050405020304" pitchFamily="18" charset="0"/>
                <a:cs typeface="Times New Roman" panose="02020603050405020304" pitchFamily="18" charset="0"/>
              </a:rPr>
              <a:t>It uses </a:t>
            </a:r>
            <a:r>
              <a:rPr lang="en-US" b="1" dirty="0">
                <a:latin typeface="Times New Roman" panose="02020603050405020304" pitchFamily="18" charset="0"/>
                <a:cs typeface="Times New Roman" panose="02020603050405020304" pitchFamily="18" charset="0"/>
              </a:rPr>
              <a:t>3D EM simulation</a:t>
            </a:r>
            <a:r>
              <a:rPr lang="en-US" dirty="0">
                <a:latin typeface="Times New Roman" panose="02020603050405020304" pitchFamily="18" charset="0"/>
                <a:cs typeface="Times New Roman" panose="02020603050405020304" pitchFamily="18" charset="0"/>
              </a:rPr>
              <a:t> to show how the antenna behaves in real-world conditions.</a:t>
            </a:r>
          </a:p>
          <a:p>
            <a:pPr lvl="1" algn="just"/>
            <a:r>
              <a:rPr lang="en-US" dirty="0">
                <a:latin typeface="Times New Roman" panose="02020603050405020304" pitchFamily="18" charset="0"/>
                <a:cs typeface="Times New Roman" panose="02020603050405020304" pitchFamily="18" charset="0"/>
              </a:rPr>
              <a:t>HFSS allows parameter adjustments easily, helping us optimize our design quickly</a:t>
            </a:r>
          </a:p>
          <a:p>
            <a:pPr marL="0" indent="0">
              <a:lnSpc>
                <a:spcPct val="200000"/>
              </a:lnSpc>
              <a:buNone/>
            </a:pPr>
            <a:endParaRPr lang="en-IN" sz="2400" dirty="0">
              <a:latin typeface="Times New Roman" panose="02020603050405020304" pitchFamily="18" charset="0"/>
              <a:cs typeface="Times New Roman" panose="02020603050405020304" pitchFamily="18" charset="0"/>
            </a:endParaRPr>
          </a:p>
        </p:txBody>
      </p:sp>
      <p:sp>
        <p:nvSpPr>
          <p:cNvPr id="6" name="AutoShape 2" descr="Image result for anyss hfss icon">
            <a:extLst>
              <a:ext uri="{FF2B5EF4-FFF2-40B4-BE49-F238E27FC236}">
                <a16:creationId xmlns:a16="http://schemas.microsoft.com/office/drawing/2014/main" id="{7F328C13-316B-5044-0CA7-8894E6FE0C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4040580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838" y="136525"/>
            <a:ext cx="10515600" cy="1325563"/>
          </a:xfrm>
        </p:spPr>
        <p:txBody>
          <a:bodyPr/>
          <a:lstStyle/>
          <a:p>
            <a:r>
              <a:rPr lang="en-US" b="1" dirty="0">
                <a:latin typeface="Times New Roman" panose="02020603050405020304" pitchFamily="18" charset="0"/>
                <a:cs typeface="Times New Roman" panose="02020603050405020304" pitchFamily="18" charset="0"/>
              </a:rPr>
              <a:t>Results</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9</a:t>
            </a:fld>
            <a:endParaRPr lang="en-IN" dirty="0"/>
          </a:p>
        </p:txBody>
      </p:sp>
      <p:pic>
        <p:nvPicPr>
          <p:cNvPr id="8" name="Picture 7">
            <a:extLst>
              <a:ext uri="{FF2B5EF4-FFF2-40B4-BE49-F238E27FC236}">
                <a16:creationId xmlns:a16="http://schemas.microsoft.com/office/drawing/2014/main" id="{39223B13-3F29-E1DA-A9D5-99FD337F65F9}"/>
              </a:ext>
            </a:extLst>
          </p:cNvPr>
          <p:cNvPicPr>
            <a:picLocks noChangeAspect="1"/>
          </p:cNvPicPr>
          <p:nvPr/>
        </p:nvPicPr>
        <p:blipFill>
          <a:blip r:embed="rId2">
            <a:extLst>
              <a:ext uri="{28A0092B-C50C-407E-A947-70E740481C1C}">
                <a14:useLocalDpi xmlns:a14="http://schemas.microsoft.com/office/drawing/2010/main" val="0"/>
              </a:ext>
            </a:extLst>
          </a:blip>
          <a:srcRect l="-290" t="-2457" r="27079" b="8661"/>
          <a:stretch>
            <a:fillRect/>
          </a:stretch>
        </p:blipFill>
        <p:spPr>
          <a:xfrm>
            <a:off x="439838" y="961765"/>
            <a:ext cx="5058137" cy="2239795"/>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7ADB0794-BA9C-3A92-E495-D94614DDE911}"/>
              </a:ext>
            </a:extLst>
          </p:cNvPr>
          <p:cNvPicPr>
            <a:picLocks noChangeAspect="1"/>
          </p:cNvPicPr>
          <p:nvPr/>
        </p:nvPicPr>
        <p:blipFill>
          <a:blip r:embed="rId3">
            <a:extLst>
              <a:ext uri="{28A0092B-C50C-407E-A947-70E740481C1C}">
                <a14:useLocalDpi xmlns:a14="http://schemas.microsoft.com/office/drawing/2010/main" val="0"/>
              </a:ext>
            </a:extLst>
          </a:blip>
          <a:srcRect l="368" t="-579" r="27632" b="5615"/>
          <a:stretch>
            <a:fillRect/>
          </a:stretch>
        </p:blipFill>
        <p:spPr>
          <a:xfrm>
            <a:off x="6875342" y="996558"/>
            <a:ext cx="5012377" cy="217020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 name="Picture 10">
            <a:extLst>
              <a:ext uri="{FF2B5EF4-FFF2-40B4-BE49-F238E27FC236}">
                <a16:creationId xmlns:a16="http://schemas.microsoft.com/office/drawing/2014/main" id="{B592EA16-9B6F-7409-03B6-6EC0D7D7E694}"/>
              </a:ext>
            </a:extLst>
          </p:cNvPr>
          <p:cNvPicPr>
            <a:picLocks noChangeAspect="1"/>
          </p:cNvPicPr>
          <p:nvPr/>
        </p:nvPicPr>
        <p:blipFill>
          <a:blip r:embed="rId4">
            <a:extLst>
              <a:ext uri="{28A0092B-C50C-407E-A947-70E740481C1C}">
                <a14:useLocalDpi xmlns:a14="http://schemas.microsoft.com/office/drawing/2010/main" val="0"/>
              </a:ext>
            </a:extLst>
          </a:blip>
          <a:srcRect l="9862" r="9862"/>
          <a:stretch>
            <a:fillRect/>
          </a:stretch>
        </p:blipFill>
        <p:spPr>
          <a:xfrm>
            <a:off x="439837" y="3940564"/>
            <a:ext cx="5058137" cy="2239795"/>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98082FA8-23C5-9A17-94FB-B2DEA6EA0864}"/>
              </a:ext>
            </a:extLst>
          </p:cNvPr>
          <p:cNvPicPr>
            <a:picLocks noChangeAspect="1"/>
          </p:cNvPicPr>
          <p:nvPr/>
        </p:nvPicPr>
        <p:blipFill>
          <a:blip r:embed="rId5">
            <a:extLst>
              <a:ext uri="{28A0092B-C50C-407E-A947-70E740481C1C}">
                <a14:useLocalDpi xmlns:a14="http://schemas.microsoft.com/office/drawing/2010/main" val="0"/>
              </a:ext>
            </a:extLst>
          </a:blip>
          <a:srcRect l="9130" t="-3666" r="9130"/>
          <a:stretch>
            <a:fillRect/>
          </a:stretch>
        </p:blipFill>
        <p:spPr>
          <a:xfrm>
            <a:off x="6875342" y="3940564"/>
            <a:ext cx="5012377" cy="22497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5" name="TextBox 14">
            <a:extLst>
              <a:ext uri="{FF2B5EF4-FFF2-40B4-BE49-F238E27FC236}">
                <a16:creationId xmlns:a16="http://schemas.microsoft.com/office/drawing/2014/main" id="{A51F367B-4202-FF57-D89C-ED5CDFA652F1}"/>
              </a:ext>
            </a:extLst>
          </p:cNvPr>
          <p:cNvSpPr txBox="1"/>
          <p:nvPr/>
        </p:nvSpPr>
        <p:spPr>
          <a:xfrm>
            <a:off x="1059082" y="3287109"/>
            <a:ext cx="3819645" cy="369332"/>
          </a:xfrm>
          <a:prstGeom prst="rect">
            <a:avLst/>
          </a:prstGeom>
          <a:noFill/>
        </p:spPr>
        <p:txBody>
          <a:bodyPr wrap="square" rtlCol="0">
            <a:spAutoFit/>
          </a:bodyPr>
          <a:lstStyle/>
          <a:p>
            <a:pPr algn="ctr"/>
            <a:r>
              <a:rPr lang="en-US" dirty="0"/>
              <a:t>  </a:t>
            </a:r>
            <a:r>
              <a:rPr lang="en-US" dirty="0">
                <a:latin typeface="Times New Roman" panose="02020603050405020304" pitchFamily="18" charset="0"/>
                <a:cs typeface="Times New Roman" panose="02020603050405020304" pitchFamily="18" charset="0"/>
              </a:rPr>
              <a:t>Gain </a:t>
            </a:r>
            <a:endParaRPr lang="en-IN" dirty="0"/>
          </a:p>
        </p:txBody>
      </p:sp>
      <p:sp>
        <p:nvSpPr>
          <p:cNvPr id="16" name="TextBox 15">
            <a:extLst>
              <a:ext uri="{FF2B5EF4-FFF2-40B4-BE49-F238E27FC236}">
                <a16:creationId xmlns:a16="http://schemas.microsoft.com/office/drawing/2014/main" id="{8B4C4C56-D776-404E-8D22-0607C75695C1}"/>
              </a:ext>
            </a:extLst>
          </p:cNvPr>
          <p:cNvSpPr txBox="1"/>
          <p:nvPr/>
        </p:nvSpPr>
        <p:spPr>
          <a:xfrm>
            <a:off x="7733818" y="3287109"/>
            <a:ext cx="3819645" cy="369332"/>
          </a:xfrm>
          <a:prstGeom prst="rect">
            <a:avLst/>
          </a:prstGeom>
          <a:noFill/>
        </p:spPr>
        <p:txBody>
          <a:bodyPr wrap="square" rtlCol="0">
            <a:spAutoFit/>
          </a:bodyPr>
          <a:lstStyle/>
          <a:p>
            <a:pPr algn="ctr"/>
            <a:r>
              <a:rPr lang="en-US" dirty="0"/>
              <a:t>  </a:t>
            </a:r>
            <a:r>
              <a:rPr lang="en-US" dirty="0">
                <a:latin typeface="Times New Roman" panose="02020603050405020304" pitchFamily="18" charset="0"/>
                <a:cs typeface="Times New Roman" panose="02020603050405020304" pitchFamily="18" charset="0"/>
              </a:rPr>
              <a:t>Directivity </a:t>
            </a:r>
            <a:endParaRPr lang="en-IN" dirty="0"/>
          </a:p>
        </p:txBody>
      </p:sp>
      <p:sp>
        <p:nvSpPr>
          <p:cNvPr id="17" name="TextBox 16">
            <a:extLst>
              <a:ext uri="{FF2B5EF4-FFF2-40B4-BE49-F238E27FC236}">
                <a16:creationId xmlns:a16="http://schemas.microsoft.com/office/drawing/2014/main" id="{ED828376-1A7B-6B8E-641B-BDD66B4AAB79}"/>
              </a:ext>
            </a:extLst>
          </p:cNvPr>
          <p:cNvSpPr txBox="1"/>
          <p:nvPr/>
        </p:nvSpPr>
        <p:spPr>
          <a:xfrm>
            <a:off x="956839" y="6190314"/>
            <a:ext cx="3819645" cy="369332"/>
          </a:xfrm>
          <a:prstGeom prst="rect">
            <a:avLst/>
          </a:prstGeom>
          <a:noFill/>
        </p:spPr>
        <p:txBody>
          <a:bodyPr wrap="square" rtlCol="0">
            <a:spAutoFit/>
          </a:bodyPr>
          <a:lstStyle/>
          <a:p>
            <a:pPr algn="ctr"/>
            <a:r>
              <a:rPr lang="en-US" dirty="0"/>
              <a:t>  </a:t>
            </a:r>
            <a:r>
              <a:rPr lang="en-US" dirty="0">
                <a:latin typeface="Times New Roman" panose="02020603050405020304" pitchFamily="18" charset="0"/>
                <a:cs typeface="Times New Roman" panose="02020603050405020304" pitchFamily="18" charset="0"/>
              </a:rPr>
              <a:t>S Parameter </a:t>
            </a:r>
            <a:endParaRPr lang="en-IN" dirty="0"/>
          </a:p>
        </p:txBody>
      </p:sp>
      <p:sp>
        <p:nvSpPr>
          <p:cNvPr id="18" name="TextBox 17">
            <a:extLst>
              <a:ext uri="{FF2B5EF4-FFF2-40B4-BE49-F238E27FC236}">
                <a16:creationId xmlns:a16="http://schemas.microsoft.com/office/drawing/2014/main" id="{0477FEAB-2D8B-152E-9181-69C66A5F6E69}"/>
              </a:ext>
            </a:extLst>
          </p:cNvPr>
          <p:cNvSpPr txBox="1"/>
          <p:nvPr/>
        </p:nvSpPr>
        <p:spPr>
          <a:xfrm>
            <a:off x="7733817" y="6281536"/>
            <a:ext cx="3819645" cy="369332"/>
          </a:xfrm>
          <a:prstGeom prst="rect">
            <a:avLst/>
          </a:prstGeom>
          <a:noFill/>
        </p:spPr>
        <p:txBody>
          <a:bodyPr wrap="square" rtlCol="0">
            <a:spAutoFit/>
          </a:bodyPr>
          <a:lstStyle/>
          <a:p>
            <a:pPr algn="ctr"/>
            <a:r>
              <a:rPr lang="en-US" dirty="0"/>
              <a:t> VSWR</a:t>
            </a:r>
            <a:endParaRPr lang="en-IN" dirty="0"/>
          </a:p>
        </p:txBody>
      </p:sp>
    </p:spTree>
    <p:extLst>
      <p:ext uri="{BB962C8B-B14F-4D97-AF65-F5344CB8AC3E}">
        <p14:creationId xmlns:p14="http://schemas.microsoft.com/office/powerpoint/2010/main" val="2644607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2CF4-0C4C-799A-87F8-3028252E7BC9}"/>
              </a:ext>
            </a:extLst>
          </p:cNvPr>
          <p:cNvSpPr>
            <a:spLocks noGrp="1"/>
          </p:cNvSpPr>
          <p:nvPr>
            <p:ph type="title"/>
          </p:nvPr>
        </p:nvSpPr>
        <p:spPr>
          <a:xfrm>
            <a:off x="137160" y="-252413"/>
            <a:ext cx="10515600" cy="1325563"/>
          </a:xfrm>
        </p:spPr>
        <p:txBody>
          <a:bodyPr/>
          <a:lstStyle/>
          <a:p>
            <a:r>
              <a:rPr lang="en-US" b="1" dirty="0">
                <a:latin typeface="Times New Roman" panose="02020603050405020304" pitchFamily="18" charset="0"/>
                <a:cs typeface="Times New Roman" panose="02020603050405020304" pitchFamily="18" charset="0"/>
              </a:rPr>
              <a:t>Applications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2B32E8-7B6F-6F5C-93A0-2A96739DD8B3}"/>
              </a:ext>
            </a:extLst>
          </p:cNvPr>
          <p:cNvSpPr>
            <a:spLocks noGrp="1"/>
          </p:cNvSpPr>
          <p:nvPr>
            <p:ph idx="1"/>
          </p:nvPr>
        </p:nvSpPr>
        <p:spPr>
          <a:xfrm>
            <a:off x="467360" y="1073150"/>
            <a:ext cx="11724640" cy="5567680"/>
          </a:xfrm>
        </p:spPr>
        <p:txBody>
          <a:bodyPr>
            <a:normAutofit fontScale="55000" lnSpcReduction="20000"/>
          </a:bodyPr>
          <a:lstStyle/>
          <a:p>
            <a:pPr>
              <a:buFont typeface="Wingdings" panose="05000000000000000000" pitchFamily="2" charset="2"/>
              <a:buChar char="ü"/>
            </a:pPr>
            <a:r>
              <a:rPr lang="en-US" sz="3800" b="1" dirty="0">
                <a:latin typeface="Times New Roman" panose="02020603050405020304" pitchFamily="18" charset="0"/>
                <a:cs typeface="Times New Roman" panose="02020603050405020304" pitchFamily="18" charset="0"/>
              </a:rPr>
              <a:t>5G Mid-Band Communication (n78 Band)</a:t>
            </a:r>
          </a:p>
          <a:p>
            <a:pPr marL="0" indent="0">
              <a:lnSpc>
                <a:spcPct val="120000"/>
              </a:lnSpc>
              <a:buNone/>
            </a:pPr>
            <a:r>
              <a:rPr lang="en-US" sz="3800" dirty="0">
                <a:latin typeface="Times New Roman" panose="02020603050405020304" pitchFamily="18" charset="0"/>
                <a:cs typeface="Times New Roman" panose="02020603050405020304" pitchFamily="18" charset="0"/>
              </a:rPr>
              <a:t>             The antenna operates around </a:t>
            </a:r>
            <a:r>
              <a:rPr lang="en-US" sz="3800" b="1" dirty="0">
                <a:latin typeface="Times New Roman" panose="02020603050405020304" pitchFamily="18" charset="0"/>
                <a:cs typeface="Times New Roman" panose="02020603050405020304" pitchFamily="18" charset="0"/>
              </a:rPr>
              <a:t>3.7 GHz</a:t>
            </a:r>
            <a:r>
              <a:rPr lang="en-US" sz="3800" dirty="0">
                <a:latin typeface="Times New Roman" panose="02020603050405020304" pitchFamily="18" charset="0"/>
                <a:cs typeface="Times New Roman" panose="02020603050405020304" pitchFamily="18" charset="0"/>
              </a:rPr>
              <a:t> with a wide </a:t>
            </a:r>
            <a:r>
              <a:rPr lang="en-US" sz="3800" b="1" dirty="0">
                <a:latin typeface="Times New Roman" panose="02020603050405020304" pitchFamily="18" charset="0"/>
                <a:cs typeface="Times New Roman" panose="02020603050405020304" pitchFamily="18" charset="0"/>
              </a:rPr>
              <a:t>950 MHz bandwidth</a:t>
            </a:r>
            <a:r>
              <a:rPr lang="en-US" sz="3800" dirty="0">
                <a:latin typeface="Times New Roman" panose="02020603050405020304" pitchFamily="18" charset="0"/>
                <a:cs typeface="Times New Roman" panose="02020603050405020304" pitchFamily="18" charset="0"/>
              </a:rPr>
              <a:t>, making it suitable for Sub-6-GHz 5G systems such as </a:t>
            </a:r>
            <a:r>
              <a:rPr lang="en-US" sz="3800" b="1" dirty="0">
                <a:latin typeface="Times New Roman" panose="02020603050405020304" pitchFamily="18" charset="0"/>
                <a:cs typeface="Times New Roman" panose="02020603050405020304" pitchFamily="18" charset="0"/>
              </a:rPr>
              <a:t>small cells</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signal boosters</a:t>
            </a:r>
            <a:r>
              <a:rPr lang="en-US" sz="3800" dirty="0">
                <a:latin typeface="Times New Roman" panose="02020603050405020304" pitchFamily="18" charset="0"/>
                <a:cs typeface="Times New Roman" panose="02020603050405020304" pitchFamily="18" charset="0"/>
              </a:rPr>
              <a:t>, and </a:t>
            </a:r>
            <a:r>
              <a:rPr lang="en-US" sz="3800" b="1" dirty="0">
                <a:latin typeface="Times New Roman" panose="02020603050405020304" pitchFamily="18" charset="0"/>
                <a:cs typeface="Times New Roman" panose="02020603050405020304" pitchFamily="18" charset="0"/>
              </a:rPr>
              <a:t>CPE units</a:t>
            </a:r>
            <a:r>
              <a:rPr lang="en-US" sz="3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sz="3800" b="1" dirty="0">
                <a:latin typeface="Times New Roman" panose="02020603050405020304" pitchFamily="18" charset="0"/>
                <a:cs typeface="Times New Roman" panose="02020603050405020304" pitchFamily="18" charset="0"/>
              </a:rPr>
              <a:t>Broadband &amp; WiMAX Wireless Systems</a:t>
            </a:r>
          </a:p>
          <a:p>
            <a:pPr marL="0" indent="0">
              <a:lnSpc>
                <a:spcPct val="120000"/>
              </a:lnSpc>
              <a:buNone/>
            </a:pPr>
            <a:r>
              <a:rPr lang="en-US" sz="3800" dirty="0">
                <a:latin typeface="Times New Roman" panose="02020603050405020304" pitchFamily="18" charset="0"/>
                <a:cs typeface="Times New Roman" panose="02020603050405020304" pitchFamily="18" charset="0"/>
              </a:rPr>
              <a:t>               Supports 3.5 GHz wireless broadband networks used for home, office, and rural Internet connectivity.</a:t>
            </a:r>
          </a:p>
          <a:p>
            <a:pPr>
              <a:buFont typeface="Wingdings" panose="05000000000000000000" pitchFamily="2" charset="2"/>
              <a:buChar char="ü"/>
            </a:pPr>
            <a:r>
              <a:rPr lang="en-US" sz="3800" b="1" dirty="0">
                <a:latin typeface="Times New Roman" panose="02020603050405020304" pitchFamily="18" charset="0"/>
                <a:cs typeface="Times New Roman" panose="02020603050405020304" pitchFamily="18" charset="0"/>
              </a:rPr>
              <a:t>IoT and Smart City Devices</a:t>
            </a:r>
          </a:p>
          <a:p>
            <a:pPr marL="0" indent="0">
              <a:lnSpc>
                <a:spcPct val="120000"/>
              </a:lnSpc>
              <a:buNone/>
            </a:pPr>
            <a:r>
              <a:rPr lang="en-US" sz="3800" dirty="0">
                <a:latin typeface="Times New Roman" panose="02020603050405020304" pitchFamily="18" charset="0"/>
                <a:cs typeface="Times New Roman" panose="02020603050405020304" pitchFamily="18" charset="0"/>
              </a:rPr>
              <a:t>               Can be integrated into IoT hubs, industrial sensors, smart meters, and other mid-band communication devices.</a:t>
            </a:r>
          </a:p>
          <a:p>
            <a:pPr>
              <a:buFont typeface="Wingdings" panose="05000000000000000000" pitchFamily="2" charset="2"/>
              <a:buChar char="ü"/>
            </a:pPr>
            <a:r>
              <a:rPr lang="en-US" sz="3800" b="1" dirty="0">
                <a:latin typeface="Times New Roman" panose="02020603050405020304" pitchFamily="18" charset="0"/>
                <a:cs typeface="Times New Roman" panose="02020603050405020304" pitchFamily="18" charset="0"/>
              </a:rPr>
              <a:t>Drone and UAV Communication Links</a:t>
            </a:r>
          </a:p>
          <a:p>
            <a:pPr marL="0" indent="0">
              <a:lnSpc>
                <a:spcPct val="120000"/>
              </a:lnSpc>
              <a:buNone/>
            </a:pPr>
            <a:r>
              <a:rPr lang="en-US" sz="3800" dirty="0">
                <a:latin typeface="Times New Roman" panose="02020603050405020304" pitchFamily="18" charset="0"/>
                <a:cs typeface="Times New Roman" panose="02020603050405020304" pitchFamily="18" charset="0"/>
              </a:rPr>
              <a:t>               Its compact and lightweight design makes it ideal for drone telemetry, control links, and short-range aerial communication.</a:t>
            </a:r>
          </a:p>
          <a:p>
            <a:pPr>
              <a:lnSpc>
                <a:spcPct val="120000"/>
              </a:lnSpc>
              <a:buFont typeface="Wingdings" panose="05000000000000000000" pitchFamily="2" charset="2"/>
              <a:buChar char="ü"/>
            </a:pPr>
            <a:r>
              <a:rPr lang="en-US" sz="3800" b="1" dirty="0">
                <a:latin typeface="Times New Roman" panose="02020603050405020304" pitchFamily="18" charset="0"/>
                <a:cs typeface="Times New Roman" panose="02020603050405020304" pitchFamily="18" charset="0"/>
              </a:rPr>
              <a:t>Short-Range Radar &amp; Monitoring Systems</a:t>
            </a:r>
          </a:p>
          <a:p>
            <a:pPr marL="0" indent="0">
              <a:buNone/>
            </a:pPr>
            <a:r>
              <a:rPr lang="en-US" sz="3800" dirty="0">
                <a:latin typeface="Times New Roman" panose="02020603050405020304" pitchFamily="18" charset="0"/>
                <a:cs typeface="Times New Roman" panose="02020603050405020304" pitchFamily="18" charset="0"/>
              </a:rPr>
              <a:t>               Useful for applications like traffic monitoring, environmental sensing, and low-power radar modules.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C3FD9DC-A29C-E2C6-4180-74B36A1015BC}"/>
              </a:ext>
            </a:extLst>
          </p:cNvPr>
          <p:cNvSpPr>
            <a:spLocks noGrp="1"/>
          </p:cNvSpPr>
          <p:nvPr>
            <p:ph type="sldNum" sz="quarter" idx="12"/>
          </p:nvPr>
        </p:nvSpPr>
        <p:spPr/>
        <p:txBody>
          <a:bodyPr/>
          <a:lstStyle/>
          <a:p>
            <a:fld id="{3C9800B7-EB22-4356-9B89-568C59CC0F89}" type="slidenum">
              <a:rPr lang="en-IN" smtClean="0"/>
              <a:t>10</a:t>
            </a:fld>
            <a:endParaRPr lang="en-IN" dirty="0"/>
          </a:p>
        </p:txBody>
      </p:sp>
    </p:spTree>
    <p:extLst>
      <p:ext uri="{BB962C8B-B14F-4D97-AF65-F5344CB8AC3E}">
        <p14:creationId xmlns:p14="http://schemas.microsoft.com/office/powerpoint/2010/main" val="168690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93" y="307252"/>
            <a:ext cx="10515600" cy="1325563"/>
          </a:xfrm>
        </p:spPr>
        <p:txBody>
          <a:bodyPr/>
          <a:lstStyle/>
          <a:p>
            <a:r>
              <a:rPr lang="en-US" b="1" dirty="0">
                <a:latin typeface="Times New Roman" panose="02020603050405020304" pitchFamily="18" charset="0"/>
                <a:cs typeface="Times New Roman" panose="02020603050405020304" pitchFamily="18" charset="0"/>
              </a:rPr>
              <a:t>Conclusion</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11</a:t>
            </a:fld>
            <a:endParaRPr lang="en-IN" dirty="0"/>
          </a:p>
        </p:txBody>
      </p:sp>
      <p:sp>
        <p:nvSpPr>
          <p:cNvPr id="6" name="Content Placeholder 5">
            <a:extLst>
              <a:ext uri="{FF2B5EF4-FFF2-40B4-BE49-F238E27FC236}">
                <a16:creationId xmlns:a16="http://schemas.microsoft.com/office/drawing/2014/main" id="{452CDE7C-4080-EA8B-67BC-F447263F2C6B}"/>
              </a:ext>
            </a:extLst>
          </p:cNvPr>
          <p:cNvSpPr>
            <a:spLocks noGrp="1"/>
          </p:cNvSpPr>
          <p:nvPr>
            <p:ph idx="1"/>
          </p:nvPr>
        </p:nvSpPr>
        <p:spPr>
          <a:xfrm>
            <a:off x="520861" y="1298509"/>
            <a:ext cx="11516810" cy="2610765"/>
          </a:xfrm>
        </p:spPr>
        <p:txBody>
          <a:bodyPr>
            <a:noAutofit/>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                 The project successfully demonstrates that the performance of a microstrip patch antenna can be improved through careful design changes and simulation-based optimization. By modifying the structure and testing different parameters in HFSS, we achieved a design that operates more efficiently and is suitable for modern wireless communication needs. The work also shows the importance of simulation tools in understanding antenna behavior and reducing the need for physical prototypes.</a:t>
            </a:r>
          </a:p>
        </p:txBody>
      </p:sp>
      <p:sp>
        <p:nvSpPr>
          <p:cNvPr id="7" name="TextBox 6">
            <a:extLst>
              <a:ext uri="{FF2B5EF4-FFF2-40B4-BE49-F238E27FC236}">
                <a16:creationId xmlns:a16="http://schemas.microsoft.com/office/drawing/2014/main" id="{BD7DF726-1549-D844-C54D-63B72CE4F96A}"/>
              </a:ext>
            </a:extLst>
          </p:cNvPr>
          <p:cNvSpPr txBox="1"/>
          <p:nvPr/>
        </p:nvSpPr>
        <p:spPr>
          <a:xfrm>
            <a:off x="520861" y="3909274"/>
            <a:ext cx="11076972" cy="221599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Key Takeaways</a:t>
            </a:r>
          </a:p>
          <a:p>
            <a:pPr lvl="1">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Small design changes can significantly improve antenna performance.</a:t>
            </a:r>
          </a:p>
          <a:p>
            <a:pPr lvl="1">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HFSS helps visualize and analyze antenna behavior clearly.</a:t>
            </a:r>
          </a:p>
          <a:p>
            <a:pPr lvl="1">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final design is simple, reliable, and ready for practical wireless use.</a:t>
            </a:r>
          </a:p>
          <a:p>
            <a:pPr lvl="1">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project improves understanding of Sub-6-GHz communication requirements.</a:t>
            </a:r>
          </a:p>
          <a:p>
            <a:endParaRPr lang="en-IN" dirty="0"/>
          </a:p>
        </p:txBody>
      </p:sp>
    </p:spTree>
    <p:extLst>
      <p:ext uri="{BB962C8B-B14F-4D97-AF65-F5344CB8AC3E}">
        <p14:creationId xmlns:p14="http://schemas.microsoft.com/office/powerpoint/2010/main" val="3240490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019" y="219919"/>
            <a:ext cx="10515600" cy="1325563"/>
          </a:xfrm>
        </p:spPr>
        <p:txBody>
          <a:bodyPr/>
          <a:lstStyle/>
          <a:p>
            <a:r>
              <a:rPr lang="en-US" b="1" dirty="0">
                <a:latin typeface="Times New Roman" panose="02020603050405020304" pitchFamily="18" charset="0"/>
                <a:cs typeface="Times New Roman" panose="02020603050405020304" pitchFamily="18" charset="0"/>
              </a:rPr>
              <a:t>References</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3C9800B7-EB22-4356-9B89-568C59CC0F89}" type="slidenum">
              <a:rPr lang="en-IN" smtClean="0"/>
              <a:t>12</a:t>
            </a:fld>
            <a:endParaRPr lang="en-IN" dirty="0"/>
          </a:p>
        </p:txBody>
      </p:sp>
      <p:sp>
        <p:nvSpPr>
          <p:cNvPr id="6" name="Content Placeholder 5">
            <a:extLst>
              <a:ext uri="{FF2B5EF4-FFF2-40B4-BE49-F238E27FC236}">
                <a16:creationId xmlns:a16="http://schemas.microsoft.com/office/drawing/2014/main" id="{370CC6A0-E3FD-9336-6406-DC9E14ED1E2A}"/>
              </a:ext>
            </a:extLst>
          </p:cNvPr>
          <p:cNvSpPr>
            <a:spLocks noGrp="1"/>
          </p:cNvSpPr>
          <p:nvPr>
            <p:ph idx="1"/>
          </p:nvPr>
        </p:nvSpPr>
        <p:spPr>
          <a:xfrm>
            <a:off x="653004" y="1115652"/>
            <a:ext cx="11514882" cy="5607672"/>
          </a:xfrm>
        </p:spPr>
        <p:txBody>
          <a:bodyPr>
            <a:normAutofit fontScale="25000" lnSpcReduction="20000"/>
          </a:bodyPr>
          <a:lstStyle/>
          <a:p>
            <a:pPr marL="0" indent="0">
              <a:lnSpc>
                <a:spcPct val="120000"/>
              </a:lnSpc>
              <a:buNone/>
            </a:pPr>
            <a:r>
              <a:rPr lang="en-IN" sz="9200" b="1" dirty="0">
                <a:latin typeface="Times New Roman" panose="02020603050405020304" pitchFamily="18" charset="0"/>
                <a:cs typeface="Times New Roman" panose="02020603050405020304" pitchFamily="18" charset="0"/>
              </a:rPr>
              <a:t>[</a:t>
            </a:r>
            <a:r>
              <a:rPr lang="en-IN" sz="8800" b="1" dirty="0">
                <a:latin typeface="Times New Roman" panose="02020603050405020304" pitchFamily="18" charset="0"/>
                <a:cs typeface="Times New Roman" panose="02020603050405020304" pitchFamily="18" charset="0"/>
              </a:rPr>
              <a:t>1]</a:t>
            </a:r>
            <a:r>
              <a:rPr lang="en-IN" sz="8800" dirty="0">
                <a:latin typeface="Times New Roman" panose="02020603050405020304" pitchFamily="18" charset="0"/>
                <a:cs typeface="Times New Roman" panose="02020603050405020304" pitchFamily="18" charset="0"/>
              </a:rPr>
              <a:t> N. K. Mohsin and D. K. Naji, “Design of a Compact Sub-6 GHz Wideband Filtering Patch Antenna Without Extra Structure,” </a:t>
            </a:r>
            <a:r>
              <a:rPr lang="en-IN" sz="8800" i="1" dirty="0">
                <a:latin typeface="Times New Roman" panose="02020603050405020304" pitchFamily="18" charset="0"/>
                <a:cs typeface="Times New Roman" panose="02020603050405020304" pitchFamily="18" charset="0"/>
              </a:rPr>
              <a:t>Progress in Electromagnetics Research C</a:t>
            </a:r>
            <a:r>
              <a:rPr lang="en-IN" sz="8800" dirty="0">
                <a:latin typeface="Times New Roman" panose="02020603050405020304" pitchFamily="18" charset="0"/>
                <a:cs typeface="Times New Roman" panose="02020603050405020304" pitchFamily="18" charset="0"/>
              </a:rPr>
              <a:t>, vol. 155, pp. 165–175, 2025. </a:t>
            </a:r>
          </a:p>
          <a:p>
            <a:pPr marL="0" indent="0">
              <a:lnSpc>
                <a:spcPct val="120000"/>
              </a:lnSpc>
              <a:buNone/>
            </a:pPr>
            <a:r>
              <a:rPr lang="en-IN" sz="8800" b="1" dirty="0">
                <a:latin typeface="Times New Roman" panose="02020603050405020304" pitchFamily="18" charset="0"/>
                <a:cs typeface="Times New Roman" panose="02020603050405020304" pitchFamily="18" charset="0"/>
              </a:rPr>
              <a:t>[2]</a:t>
            </a:r>
            <a:r>
              <a:rPr lang="en-IN" sz="8800" dirty="0">
                <a:latin typeface="Times New Roman" panose="02020603050405020304" pitchFamily="18" charset="0"/>
                <a:cs typeface="Times New Roman" panose="02020603050405020304" pitchFamily="18" charset="0"/>
              </a:rPr>
              <a:t> M. Saeed, M. J. Farhan, and A. Al-Sherbaz, “Design and Analysis of Microstrip Antenna for 5G Applications,” </a:t>
            </a:r>
            <a:r>
              <a:rPr lang="en-IN" sz="8800" i="1" dirty="0">
                <a:latin typeface="Times New Roman" panose="02020603050405020304" pitchFamily="18" charset="0"/>
                <a:cs typeface="Times New Roman" panose="02020603050405020304" pitchFamily="18" charset="0"/>
              </a:rPr>
              <a:t>Journal of Engineering and Sustainable Development</a:t>
            </a:r>
            <a:r>
              <a:rPr lang="en-IN" sz="8800" dirty="0">
                <a:latin typeface="Times New Roman" panose="02020603050405020304" pitchFamily="18" charset="0"/>
                <a:cs typeface="Times New Roman" panose="02020603050405020304" pitchFamily="18" charset="0"/>
              </a:rPr>
              <a:t>, vol. 28, no. 2, pp. 285–293, 2024.</a:t>
            </a:r>
          </a:p>
          <a:p>
            <a:pPr marL="0" indent="0">
              <a:lnSpc>
                <a:spcPct val="120000"/>
              </a:lnSpc>
              <a:buNone/>
            </a:pPr>
            <a:r>
              <a:rPr lang="en-IN" sz="8800" b="1" dirty="0">
                <a:latin typeface="Times New Roman" panose="02020603050405020304" pitchFamily="18" charset="0"/>
                <a:cs typeface="Times New Roman" panose="02020603050405020304" pitchFamily="18" charset="0"/>
              </a:rPr>
              <a:t>[3]</a:t>
            </a:r>
            <a:r>
              <a:rPr lang="en-IN" sz="8800" dirty="0">
                <a:latin typeface="Times New Roman" panose="02020603050405020304" pitchFamily="18" charset="0"/>
                <a:cs typeface="Times New Roman" panose="02020603050405020304" pitchFamily="18" charset="0"/>
              </a:rPr>
              <a:t> R. Benedikto, H. H. Ryanu, A. D. Prasetyo, and A. Munir, “Triangular Dual-Band Patch Antenna With Harmonic Frequency Suppression,” </a:t>
            </a:r>
            <a:r>
              <a:rPr lang="en-IN" sz="8800" i="1" dirty="0">
                <a:latin typeface="Times New Roman" panose="02020603050405020304" pitchFamily="18" charset="0"/>
                <a:cs typeface="Times New Roman" panose="02020603050405020304" pitchFamily="18" charset="0"/>
              </a:rPr>
              <a:t>IEEE International Workshop on Antenna Technology</a:t>
            </a:r>
            <a:r>
              <a:rPr lang="en-IN" sz="8800" dirty="0">
                <a:latin typeface="Times New Roman" panose="02020603050405020304" pitchFamily="18" charset="0"/>
                <a:cs typeface="Times New Roman" panose="02020603050405020304" pitchFamily="18" charset="0"/>
              </a:rPr>
              <a:t>, pp. 302–305, 2024.</a:t>
            </a:r>
          </a:p>
          <a:p>
            <a:pPr marL="0" indent="0">
              <a:lnSpc>
                <a:spcPct val="120000"/>
              </a:lnSpc>
              <a:buNone/>
            </a:pPr>
            <a:r>
              <a:rPr lang="en-IN" sz="8800" b="1" dirty="0">
                <a:latin typeface="Times New Roman" panose="02020603050405020304" pitchFamily="18" charset="0"/>
                <a:cs typeface="Times New Roman" panose="02020603050405020304" pitchFamily="18" charset="0"/>
              </a:rPr>
              <a:t>[4]</a:t>
            </a:r>
            <a:r>
              <a:rPr lang="en-IN" sz="8800" dirty="0">
                <a:latin typeface="Times New Roman" panose="02020603050405020304" pitchFamily="18" charset="0"/>
                <a:cs typeface="Times New Roman" panose="02020603050405020304" pitchFamily="18" charset="0"/>
              </a:rPr>
              <a:t> M. B. Bicer and E. A. Aydin, “Analyzing Equilateral Triangle Microstrip Antennas Using Gaussian Process Regression,” </a:t>
            </a:r>
            <a:r>
              <a:rPr lang="en-IN" sz="8800" i="1" dirty="0">
                <a:latin typeface="Times New Roman" panose="02020603050405020304" pitchFamily="18" charset="0"/>
                <a:cs typeface="Times New Roman" panose="02020603050405020304" pitchFamily="18" charset="0"/>
              </a:rPr>
              <a:t>Multimedia Tools and Applications</a:t>
            </a:r>
            <a:r>
              <a:rPr lang="en-IN" sz="8800" dirty="0">
                <a:latin typeface="Times New Roman" panose="02020603050405020304" pitchFamily="18" charset="0"/>
                <a:cs typeface="Times New Roman" panose="02020603050405020304" pitchFamily="18" charset="0"/>
              </a:rPr>
              <a:t>, vol. 83, pp. 24435–24465, 2024.</a:t>
            </a:r>
          </a:p>
          <a:p>
            <a:pPr marL="0" indent="0">
              <a:lnSpc>
                <a:spcPct val="120000"/>
              </a:lnSpc>
              <a:buNone/>
            </a:pPr>
            <a:r>
              <a:rPr lang="en-IN" sz="8800" b="1" dirty="0">
                <a:latin typeface="Times New Roman" panose="02020603050405020304" pitchFamily="18" charset="0"/>
                <a:cs typeface="Times New Roman" panose="02020603050405020304" pitchFamily="18" charset="0"/>
              </a:rPr>
              <a:t>[5]</a:t>
            </a:r>
            <a:r>
              <a:rPr lang="en-IN" sz="8800" dirty="0">
                <a:latin typeface="Times New Roman" panose="02020603050405020304" pitchFamily="18" charset="0"/>
                <a:cs typeface="Times New Roman" panose="02020603050405020304" pitchFamily="18" charset="0"/>
              </a:rPr>
              <a:t> V. Gnanalakshmi, G. Shobana, and G. Prema, “Design and Analysis of Microstrip Sierpinski Fractal Antenna for Wireless Applications,” </a:t>
            </a:r>
            <a:r>
              <a:rPr lang="en-IN" sz="8800" i="1" dirty="0">
                <a:latin typeface="Times New Roman" panose="02020603050405020304" pitchFamily="18" charset="0"/>
                <a:cs typeface="Times New Roman" panose="02020603050405020304" pitchFamily="18" charset="0"/>
              </a:rPr>
              <a:t>International Journal of Electrical and Electronics Research</a:t>
            </a:r>
            <a:r>
              <a:rPr lang="en-IN" sz="8800" dirty="0">
                <a:latin typeface="Times New Roman" panose="02020603050405020304" pitchFamily="18" charset="0"/>
                <a:cs typeface="Times New Roman" panose="02020603050405020304" pitchFamily="18" charset="0"/>
              </a:rPr>
              <a:t>, vol. 12, no. 2, pp. 535–539, 2024.</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813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03F8D-7E3F-8049-AEB6-962A3192142D}"/>
              </a:ext>
            </a:extLst>
          </p:cNvPr>
          <p:cNvSpPr>
            <a:spLocks noGrp="1"/>
          </p:cNvSpPr>
          <p:nvPr>
            <p:ph idx="1"/>
          </p:nvPr>
        </p:nvSpPr>
        <p:spPr>
          <a:xfrm>
            <a:off x="1234440" y="2520315"/>
            <a:ext cx="10515600" cy="1059815"/>
          </a:xfrm>
        </p:spPr>
        <p:txBody>
          <a:bodyPr anchor="ctr">
            <a:noAutofit/>
          </a:bodyPr>
          <a:lstStyle/>
          <a:p>
            <a:pPr marL="0" indent="0" algn="ctr">
              <a:buNone/>
            </a:pPr>
            <a:r>
              <a:rPr lang="en-US" sz="9600" dirty="0">
                <a:latin typeface="Times New Roman" panose="02020603050405020304" pitchFamily="18" charset="0"/>
                <a:cs typeface="Times New Roman" panose="02020603050405020304" pitchFamily="18" charset="0"/>
              </a:rPr>
              <a:t>Thank You….</a:t>
            </a:r>
            <a:endParaRPr lang="en-IN" sz="9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A4E08A3-E0F6-E8C3-F0E4-7B09DED86EFE}"/>
              </a:ext>
            </a:extLst>
          </p:cNvPr>
          <p:cNvSpPr>
            <a:spLocks noGrp="1"/>
          </p:cNvSpPr>
          <p:nvPr>
            <p:ph type="sldNum" sz="quarter" idx="12"/>
          </p:nvPr>
        </p:nvSpPr>
        <p:spPr/>
        <p:txBody>
          <a:bodyPr/>
          <a:lstStyle/>
          <a:p>
            <a:fld id="{3C9800B7-EB22-4356-9B89-568C59CC0F89}" type="slidenum">
              <a:rPr lang="en-IN" smtClean="0"/>
              <a:t>13</a:t>
            </a:fld>
            <a:endParaRPr lang="en-IN" dirty="0"/>
          </a:p>
        </p:txBody>
      </p:sp>
    </p:spTree>
    <p:extLst>
      <p:ext uri="{BB962C8B-B14F-4D97-AF65-F5344CB8AC3E}">
        <p14:creationId xmlns:p14="http://schemas.microsoft.com/office/powerpoint/2010/main" val="309142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1413</Words>
  <Application>Microsoft Office PowerPoint</Application>
  <PresentationFormat>Widescreen</PresentationFormat>
  <Paragraphs>186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Enhanced Sub-6 GHz Microstrip Patch Antenna with Wideband for Next-Gen Wireless Systems U20EC706 PROJECT PHASE I</vt:lpstr>
      <vt:lpstr>PowerPoint Presentation</vt:lpstr>
      <vt:lpstr>Abstract </vt:lpstr>
      <vt:lpstr>Introduction </vt:lpstr>
      <vt:lpstr>Existing System </vt:lpstr>
      <vt:lpstr>PowerPoint Presentation</vt:lpstr>
      <vt:lpstr>Proposed System </vt:lpstr>
      <vt:lpstr>Software Used </vt:lpstr>
      <vt:lpstr>Results </vt:lpstr>
      <vt:lpstr>Applications </vt:lpstr>
      <vt:lpstr>Conclusion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welcome</dc:creator>
  <cp:lastModifiedBy>Rajasurya J</cp:lastModifiedBy>
  <cp:revision>8</cp:revision>
  <dcterms:created xsi:type="dcterms:W3CDTF">2025-11-13T16:27:41Z</dcterms:created>
  <dcterms:modified xsi:type="dcterms:W3CDTF">2025-11-18T03:53:09Z</dcterms:modified>
</cp:coreProperties>
</file>